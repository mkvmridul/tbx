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line: SQL computes, the model only reads the answer out loud, and a validator checks every digit before you see it. Say it here and again at the close.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brief's words, nearly verbatim: routine lookups on repeat; a wrong or invented number in finance is a liability, not a bug. Then land on the sentence in the box: grounding is the crux. Everything we built follows from taking that sentence literally.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tables, eight useful columns. Point at description: it is the ONLY place a vendor name exists. Show the four real rows: the name is the last piece, the second piece, the ninth piece, or absent. One rule cannot work; you must know the format first. 93,054 distinct strings but only ten shapes — that is why this is solvable deterministically.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lanes, top to bottom. GIVEN: three tables; description is the only place a vendor exists; the four things the brief needs are not columns. BUILT ONCE: parse, canonicalise, reconcile, score — runs once at load, produces two tables plus 13 fixed queries and 8 indexes. PER QUESTION: plan, resolve, guard, compute, narrate, validate. Point at the dashed fence: no model inside. The model box at the bottom touches exactly two things — PLAN and NARRATE. It never reaches the SQL or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each with its measured number. Parse: ten rules, one per format; an unknown format returns UNKNOWN and is excluded, never guessed — a guessed vendor silently corrupts a total. Canonicalise: VOLTAS LTD and VOLTAS LIMITED become one vendor; we never fuzzy-match because SELECTION MOBILE and SELECTRICITY TWO are different businesses. Reconcile: two legs sharing a UTR and reference in opposite directions are a matched pair. Anomalies: per vendor, on the log of the amount, median and MAD so a huge payment cannot hide itself; RMZ Corp normally gets 7 lakh, one day 2.55 crore — 36 times, flagged. Threshold 4 was swept and chosen for precision.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with the screenshot beside them. Plan: a vendor phrase was found, so this is spend for one vendor — the rules settled it, no model call. Resolve: last month is counted from the data's last date; Blue Dart matched exactly one vendor. Guard: four checks pass. Compute: one hand-written query, two evidence values. Narrate: the model writes placeholders only. Validate: both numbers trace back. Then the punchline: 59 payments, six formats, three spellings; a plain text search misses 19% of the answer and would report it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Exact figures: LIKE '%SELECT%' returns Rs 1,394,994,707 over 7,854 rows. Selection Mobile Shop alone is Rs 221,747,874 over 790 rows. Eight companies have SELECT in their name and a mall called Select City sits in the location of payments to 51 more — so the naive query sweeps in 59 businesses. We split the location off before matching and never substring-match. Ask about 'Selection' and it lists five and asks. Preset chip 6 in the UI.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shot. Click 'Try to make it fabricate a number'. Emphasise the difference between asking a model nicely and enforcing: the model physically cannot type a digit, only a placeholder; and the validator checks every number in the final sentence against the query results anyway. It runs offline — no model call — so it cannot fail on stage.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slide aloud. Say: every line of the brief is here with the evidence next to it, and the graders that produce those numbers run live in the terminal in the demo. Point at the two heaviest weights — accuracy and grounding at 30, model efficiency at 20 — and note the whole design is aimed at exactly those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asks for a note on model choice — this is it. Two jobs, both text-in text-out on material we hand it. Today it runs on Sarvam, an Indian model, through a single config line; the default is gpt-4o-mini; a local model works the same way. Accuracy: 20/20 with it on, 20/20 with it off. We also tried making the model the primary planner and got 18/20 — two prompt-level misses — so rules stay primary today and the model handles the phrasings rules do not recognise. Be proud of the 18: it is a measured experiment, not a hidden weakness.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preset chips; do not free-type new phrasings. Key lines: 'Last month is measured from the data's last transaction, not the wall clock.' 'Same words, different subject: it stays on Blue Dart, +76.6%.' 'LIKE %SELECT% says 139 crore; the right answer is 22 crore; we list five and ask.' 'Same validator that gates every reply; it names the unsourced tokens and discards the draft.' If the wifi dies: comment out LLM_API_KEY in .env and restart — every number is identical. That is the fallback working; say 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 the line and stop.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440"/>
        </a:solidFill>
        <a:effectLst/>
      </p:bgPr>
    </p:bg>
    <p:spTree>
      <p:nvGrpSpPr>
        <p:cNvPr id="1" name=""/>
        <p:cNvGrpSpPr/>
        <p:nvPr/>
      </p:nvGrpSpPr>
      <p:grpSpPr/>
      <p:sp>
        <p:nvSpPr>
          <p:cNvPr id="2" name="Rectangle 1"/>
          <p:cNvSpPr/>
          <p:nvPr/>
        </p:nvSpPr>
        <p:spPr>
          <a:xfrm>
            <a:off x="731520" y="2331720"/>
            <a:ext cx="1188720" cy="54864"/>
          </a:xfrm>
          <a:prstGeom prst="rect">
            <a:avLst/>
          </a:prstGeom>
          <a:solidFill>
            <a:srgbClr val="3FC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14600"/>
            <a:ext cx="9144000" cy="1005840"/>
          </a:xfrm>
          <a:prstGeom prst="rect">
            <a:avLst/>
          </a:prstGeom>
          <a:noFill/>
        </p:spPr>
        <p:txBody>
          <a:bodyPr wrap="square" lIns="0" rIns="0" tIns="0" bIns="0" anchor="t">
            <a:spAutoFit/>
          </a:bodyPr>
          <a:lstStyle/>
          <a:p>
            <a:pPr algn="l">
              <a:lnSpc>
                <a:spcPct val="112000"/>
              </a:lnSpc>
              <a:spcAft>
                <a:spcPts val="0"/>
              </a:spcAft>
            </a:pPr>
            <a:r>
              <a:rPr sz="6000" b="1" i="0">
                <a:solidFill>
                  <a:srgbClr val="FFFFFF"/>
                </a:solidFill>
                <a:latin typeface="Helvetica Neue"/>
              </a:rPr>
              <a:t>finassist</a:t>
            </a:r>
          </a:p>
        </p:txBody>
      </p:sp>
      <p:sp>
        <p:nvSpPr>
          <p:cNvPr id="4" name="TextBox 3"/>
          <p:cNvSpPr txBox="1"/>
          <p:nvPr/>
        </p:nvSpPr>
        <p:spPr>
          <a:xfrm>
            <a:off x="731520" y="3520440"/>
            <a:ext cx="10515600" cy="640080"/>
          </a:xfrm>
          <a:prstGeom prst="rect">
            <a:avLst/>
          </a:prstGeom>
          <a:noFill/>
        </p:spPr>
        <p:txBody>
          <a:bodyPr wrap="square" lIns="0" rIns="0" tIns="0" bIns="0" anchor="t">
            <a:spAutoFit/>
          </a:bodyPr>
          <a:lstStyle/>
          <a:p>
            <a:pPr algn="l">
              <a:lnSpc>
                <a:spcPct val="112000"/>
              </a:lnSpc>
              <a:spcAft>
                <a:spcPts val="0"/>
              </a:spcAft>
            </a:pPr>
            <a:r>
              <a:rPr sz="2400" b="0" i="0">
                <a:solidFill>
                  <a:srgbClr val="CFD6DC"/>
                </a:solidFill>
                <a:latin typeface="Helvetica Neue"/>
              </a:rPr>
              <a:t>A finance assistant that will not make a number up.</a:t>
            </a:r>
          </a:p>
        </p:txBody>
      </p:sp>
      <p:sp>
        <p:nvSpPr>
          <p:cNvPr id="5" name="TextBox 4"/>
          <p:cNvSpPr txBox="1"/>
          <p:nvPr/>
        </p:nvSpPr>
        <p:spPr>
          <a:xfrm>
            <a:off x="731520" y="4251960"/>
            <a:ext cx="10515600" cy="548640"/>
          </a:xfrm>
          <a:prstGeom prst="rect">
            <a:avLst/>
          </a:prstGeom>
          <a:noFill/>
        </p:spPr>
        <p:txBody>
          <a:bodyPr wrap="square" lIns="0" rIns="0" tIns="0" bIns="0" anchor="t">
            <a:spAutoFit/>
          </a:bodyPr>
          <a:lstStyle/>
          <a:p>
            <a:pPr algn="l">
              <a:lnSpc>
                <a:spcPct val="112000"/>
              </a:lnSpc>
              <a:spcAft>
                <a:spcPts val="0"/>
              </a:spcAft>
            </a:pPr>
            <a:r>
              <a:rPr sz="1400" b="0" i="0">
                <a:solidFill>
                  <a:srgbClr val="8FB6D9"/>
                </a:solidFill>
                <a:latin typeface="Helvetica Neue"/>
              </a:rPr>
              <a:t>Ask about your transactions in plain English. Get the answer, the rows behind it, and the SQL that produced it.</a:t>
            </a:r>
          </a:p>
        </p:txBody>
      </p:sp>
      <p:sp>
        <p:nvSpPr>
          <p:cNvPr id="6" name="TextBox 5"/>
          <p:cNvSpPr txBox="1"/>
          <p:nvPr/>
        </p:nvSpPr>
        <p:spPr>
          <a:xfrm>
            <a:off x="731520" y="5989320"/>
            <a:ext cx="7315200" cy="274320"/>
          </a:xfrm>
          <a:prstGeom prst="rect">
            <a:avLst/>
          </a:prstGeom>
          <a:noFill/>
        </p:spPr>
        <p:txBody>
          <a:bodyPr wrap="square" lIns="0" rIns="0" tIns="0" bIns="0" anchor="t">
            <a:spAutoFit/>
          </a:bodyPr>
          <a:lstStyle/>
          <a:p>
            <a:pPr algn="l">
              <a:lnSpc>
                <a:spcPct val="112000"/>
              </a:lnSpc>
              <a:spcAft>
                <a:spcPts val="0"/>
              </a:spcAft>
            </a:pPr>
            <a:r>
              <a:rPr sz="1100" b="0" i="0">
                <a:solidFill>
                  <a:srgbClr val="8FB6D9"/>
                </a:solidFill>
                <a:latin typeface="Helvetica Neue"/>
              </a:rPr>
              <a:t>TBX  ·  BVP Tech Catalyst Hackathon  ·  Bengaluru  ·  5 September 2026</a:t>
            </a:r>
          </a:p>
        </p:txBody>
      </p:sp>
      <p:sp>
        <p:nvSpPr>
          <p:cNvPr id="7" name="TextBox 6"/>
          <p:cNvSpPr txBox="1"/>
          <p:nvPr/>
        </p:nvSpPr>
        <p:spPr>
          <a:xfrm>
            <a:off x="7772400" y="5989320"/>
            <a:ext cx="3657600" cy="274320"/>
          </a:xfrm>
          <a:prstGeom prst="rect">
            <a:avLst/>
          </a:prstGeom>
          <a:noFill/>
        </p:spPr>
        <p:txBody>
          <a:bodyPr wrap="square" lIns="0" rIns="0" tIns="0" bIns="0" anchor="t">
            <a:spAutoFit/>
          </a:bodyPr>
          <a:lstStyle/>
          <a:p>
            <a:pPr algn="r">
              <a:lnSpc>
                <a:spcPct val="112000"/>
              </a:lnSpc>
              <a:spcAft>
                <a:spcPts val="0"/>
              </a:spcAft>
            </a:pPr>
            <a:r>
              <a:rPr sz="1100" b="1" i="0">
                <a:solidFill>
                  <a:srgbClr val="CFD6DC"/>
                </a:solidFill>
                <a:latin typeface="Helvetica Neue"/>
              </a:rPr>
              <a:t>Mridul  ·  Ganesh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2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T  H  E     P  R  O  B  L  E  M     ·     F  R  O  M     T  H  E     B  R  I  E  F</a:t>
            </a:r>
          </a:p>
        </p:txBody>
      </p:sp>
      <p:sp>
        <p:nvSpPr>
          <p:cNvPr id="5" name="TextBox 4"/>
          <p:cNvSpPr txBox="1"/>
          <p:nvPr/>
        </p:nvSpPr>
        <p:spPr>
          <a:xfrm>
            <a:off x="548640" y="621792"/>
            <a:ext cx="11064240" cy="86868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Finance teams answer the same lookups on repeat.</a:t>
            </a:r>
          </a:p>
          <a:p>
            <a:pPr algn="l">
              <a:lnSpc>
                <a:spcPct val="105000"/>
              </a:lnSpc>
              <a:spcAft>
                <a:spcPts val="0"/>
              </a:spcAft>
            </a:pPr>
            <a:r>
              <a:rPr sz="2600" b="1" i="0">
                <a:solidFill>
                  <a:srgbClr val="14212B"/>
                </a:solidFill>
                <a:latin typeface="Helvetica Neue"/>
              </a:rPr>
              <a:t>A wrong number is a liability.</a:t>
            </a:r>
          </a:p>
        </p:txBody>
      </p:sp>
      <p:sp>
        <p:nvSpPr>
          <p:cNvPr id="6" name="Rectangle 5"/>
          <p:cNvSpPr/>
          <p:nvPr/>
        </p:nvSpPr>
        <p:spPr>
          <a:xfrm>
            <a:off x="548640" y="1856231"/>
            <a:ext cx="82296" cy="82296"/>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394960" cy="868680"/>
          </a:xfrm>
          <a:prstGeom prst="rect">
            <a:avLst/>
          </a:prstGeom>
          <a:noFill/>
        </p:spPr>
        <p:txBody>
          <a:bodyPr wrap="square" lIns="0" rIns="0" tIns="0" bIns="0" anchor="t">
            <a:spAutoFit/>
          </a:bodyPr>
          <a:lstStyle/>
          <a:p>
            <a:pPr algn="l">
              <a:lnSpc>
                <a:spcPct val="120000"/>
              </a:lnSpc>
              <a:spcAft>
                <a:spcPts val="0"/>
              </a:spcAft>
            </a:pPr>
            <a:r>
              <a:rPr sz="1300" b="0" i="0">
                <a:solidFill>
                  <a:srgbClr val="14212B"/>
                </a:solidFill>
                <a:latin typeface="Helvetica Neue"/>
              </a:rPr>
              <a:t>Getting a simple answer — what we spent on a vendor, which transactions are unreconciled — means finding the right report, learning its terminology, or waiting on finance ops to run a query.</a:t>
            </a:r>
          </a:p>
        </p:txBody>
      </p:sp>
      <p:sp>
        <p:nvSpPr>
          <p:cNvPr id="8" name="Rectangle 7"/>
          <p:cNvSpPr/>
          <p:nvPr/>
        </p:nvSpPr>
        <p:spPr>
          <a:xfrm>
            <a:off x="548640" y="2907791"/>
            <a:ext cx="82296" cy="82296"/>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34639"/>
            <a:ext cx="5394960" cy="868680"/>
          </a:xfrm>
          <a:prstGeom prst="rect">
            <a:avLst/>
          </a:prstGeom>
          <a:noFill/>
        </p:spPr>
        <p:txBody>
          <a:bodyPr wrap="square" lIns="0" rIns="0" tIns="0" bIns="0" anchor="t">
            <a:spAutoFit/>
          </a:bodyPr>
          <a:lstStyle/>
          <a:p>
            <a:pPr algn="l">
              <a:lnSpc>
                <a:spcPct val="120000"/>
              </a:lnSpc>
              <a:spcAft>
                <a:spcPts val="0"/>
              </a:spcAft>
            </a:pPr>
            <a:r>
              <a:rPr sz="1300" b="0" i="0">
                <a:solidFill>
                  <a:srgbClr val="14212B"/>
                </a:solidFill>
                <a:latin typeface="Helvetica Neue"/>
              </a:rPr>
              <a:t>A conversational assistant that answers from real data would let anyone get a trustworthy answer in seconds, without opening a dashboard.</a:t>
            </a:r>
          </a:p>
        </p:txBody>
      </p:sp>
      <p:sp>
        <p:nvSpPr>
          <p:cNvPr id="10" name="Rectangle 9"/>
          <p:cNvSpPr/>
          <p:nvPr/>
        </p:nvSpPr>
        <p:spPr>
          <a:xfrm>
            <a:off x="548640" y="3959352"/>
            <a:ext cx="82296" cy="82296"/>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886200"/>
            <a:ext cx="5394960" cy="868680"/>
          </a:xfrm>
          <a:prstGeom prst="rect">
            <a:avLst/>
          </a:prstGeom>
          <a:noFill/>
        </p:spPr>
        <p:txBody>
          <a:bodyPr wrap="square" lIns="0" rIns="0" tIns="0" bIns="0" anchor="t">
            <a:spAutoFit/>
          </a:bodyPr>
          <a:lstStyle/>
          <a:p>
            <a:pPr algn="l">
              <a:lnSpc>
                <a:spcPct val="120000"/>
              </a:lnSpc>
              <a:spcAft>
                <a:spcPts val="0"/>
              </a:spcAft>
            </a:pPr>
            <a:r>
              <a:rPr sz="1300" b="0" i="0">
                <a:solidFill>
                  <a:srgbClr val="14212B"/>
                </a:solidFill>
                <a:latin typeface="Helvetica Neue"/>
              </a:rPr>
              <a:t>The stakes are higher than most chatbots. An invented number undermines reconciliation, audits, and trust in the numbers.</a:t>
            </a:r>
          </a:p>
        </p:txBody>
      </p:sp>
      <p:sp>
        <p:nvSpPr>
          <p:cNvPr id="12" name="Rounded Rectangle 11"/>
          <p:cNvSpPr/>
          <p:nvPr/>
        </p:nvSpPr>
        <p:spPr>
          <a:xfrm>
            <a:off x="6675120" y="1874519"/>
            <a:ext cx="4937760" cy="777240"/>
          </a:xfrm>
          <a:prstGeom prst="roundRect">
            <a:avLst>
              <a:gd name="adj" fmla="val 3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a:solidFill>
                  <a:srgbClr val="14212B"/>
                </a:solidFill>
                <a:latin typeface="Helvetica Neue"/>
              </a:rPr>
              <a:t>“How much did we spend on vendor payouts last month?”</a:t>
            </a:r>
          </a:p>
        </p:txBody>
      </p:sp>
      <p:sp>
        <p:nvSpPr>
          <p:cNvPr id="13" name="Rounded Rectangle 12"/>
          <p:cNvSpPr/>
          <p:nvPr/>
        </p:nvSpPr>
        <p:spPr>
          <a:xfrm>
            <a:off x="6675120" y="2926079"/>
            <a:ext cx="4937760" cy="777240"/>
          </a:xfrm>
          <a:prstGeom prst="roundRect">
            <a:avLst>
              <a:gd name="adj" fmla="val 3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a:solidFill>
                  <a:srgbClr val="14212B"/>
                </a:solidFill>
                <a:latin typeface="Helvetica Neue"/>
              </a:rPr>
              <a:t>“Which transactions are still unreconciled?”</a:t>
            </a:r>
          </a:p>
        </p:txBody>
      </p:sp>
      <p:sp>
        <p:nvSpPr>
          <p:cNvPr id="14" name="TextBox 13"/>
          <p:cNvSpPr txBox="1"/>
          <p:nvPr/>
        </p:nvSpPr>
        <p:spPr>
          <a:xfrm>
            <a:off x="6675120" y="4069080"/>
            <a:ext cx="4937760" cy="274320"/>
          </a:xfrm>
          <a:prstGeom prst="rect">
            <a:avLst/>
          </a:prstGeom>
          <a:noFill/>
        </p:spPr>
        <p:txBody>
          <a:bodyPr wrap="square" lIns="0" rIns="0" tIns="0" bIns="0" anchor="t">
            <a:spAutoFit/>
          </a:bodyPr>
          <a:lstStyle/>
          <a:p>
            <a:pPr algn="l">
              <a:lnSpc>
                <a:spcPct val="112000"/>
              </a:lnSpc>
              <a:spcAft>
                <a:spcPts val="0"/>
              </a:spcAft>
            </a:pPr>
            <a:r>
              <a:rPr sz="900" b="0" i="1">
                <a:solidFill>
                  <a:srgbClr val="5B6875"/>
                </a:solidFill>
                <a:latin typeface="Helvetica Neue"/>
              </a:rPr>
              <a:t>the brief's own examples</a:t>
            </a:r>
          </a:p>
        </p:txBody>
      </p:sp>
      <p:sp>
        <p:nvSpPr>
          <p:cNvPr id="15" name="Rounded Rectangle 14"/>
          <p:cNvSpPr/>
          <p:nvPr/>
        </p:nvSpPr>
        <p:spPr>
          <a:xfrm>
            <a:off x="548640" y="5120640"/>
            <a:ext cx="11064240" cy="1005840"/>
          </a:xfrm>
          <a:prstGeom prst="roundRect">
            <a:avLst>
              <a:gd name="adj" fmla="val 12000"/>
            </a:avLst>
          </a:prstGeom>
          <a:solidFill>
            <a:srgbClr val="EDF7F6"/>
          </a:solidFill>
          <a:ln w="1905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285232"/>
            <a:ext cx="10515600" cy="731520"/>
          </a:xfrm>
          <a:prstGeom prst="rect">
            <a:avLst/>
          </a:prstGeom>
          <a:noFill/>
        </p:spPr>
        <p:txBody>
          <a:bodyPr wrap="square" lIns="0" rIns="0" tIns="0" bIns="0" anchor="ctr">
            <a:spAutoFit/>
          </a:bodyPr>
          <a:lstStyle/>
          <a:p>
            <a:pPr algn="l">
              <a:lnSpc>
                <a:spcPct val="112000"/>
              </a:lnSpc>
              <a:spcAft>
                <a:spcPts val="0"/>
              </a:spcAft>
            </a:pPr>
            <a:r>
              <a:rPr sz="1500" b="1" i="0">
                <a:solidFill>
                  <a:srgbClr val="0A6E78"/>
                </a:solidFill>
                <a:latin typeface="Helvetica Neue"/>
              </a:rPr>
              <a:t>Grounding is the crux. </a:t>
            </a:r>
            <a:r>
              <a:rPr sz="1500" b="0" i="0">
                <a:solidFill>
                  <a:srgbClr val="14212B"/>
                </a:solidFill>
                <a:latin typeface="Helvetica Neue"/>
              </a:rPr>
              <a:t>Every answer must come from real data — never from the model filling in a plausible-sounding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3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T  H  E     P  R  O  B  L  E  M     U  N  D  E  R  N  E  A  T  H</a:t>
            </a:r>
          </a:p>
        </p:txBody>
      </p:sp>
      <p:sp>
        <p:nvSpPr>
          <p:cNvPr id="5" name="TextBox 4"/>
          <p:cNvSpPr txBox="1"/>
          <p:nvPr/>
        </p:nvSpPr>
        <p:spPr>
          <a:xfrm>
            <a:off x="548640" y="621792"/>
            <a:ext cx="11064240" cy="868680"/>
          </a:xfrm>
          <a:prstGeom prst="rect">
            <a:avLst/>
          </a:prstGeom>
          <a:noFill/>
        </p:spPr>
        <p:txBody>
          <a:bodyPr wrap="square" lIns="0" rIns="0" tIns="0" bIns="0" anchor="t">
            <a:spAutoFit/>
          </a:bodyPr>
          <a:lstStyle/>
          <a:p>
            <a:pPr algn="l">
              <a:lnSpc>
                <a:spcPct val="105000"/>
              </a:lnSpc>
              <a:spcAft>
                <a:spcPts val="0"/>
              </a:spcAft>
            </a:pPr>
            <a:r>
              <a:rPr sz="2400" b="1" i="0">
                <a:solidFill>
                  <a:srgbClr val="14212B"/>
                </a:solidFill>
                <a:latin typeface="Helvetica Neue"/>
              </a:rPr>
              <a:t>The brief asks about vendors, categories and reconciliation.</a:t>
            </a:r>
          </a:p>
          <a:p>
            <a:pPr algn="l">
              <a:lnSpc>
                <a:spcPct val="105000"/>
              </a:lnSpc>
              <a:spcAft>
                <a:spcPts val="0"/>
              </a:spcAft>
            </a:pPr>
            <a:r>
              <a:rPr sz="2400" b="1" i="0">
                <a:solidFill>
                  <a:srgbClr val="14212B"/>
                </a:solidFill>
                <a:latin typeface="Helvetica Neue"/>
              </a:rPr>
              <a:t>The schema has none of those columns.</a:t>
            </a:r>
          </a:p>
        </p:txBody>
      </p:sp>
      <p:sp>
        <p:nvSpPr>
          <p:cNvPr id="6" name="Rectangle 5"/>
          <p:cNvSpPr/>
          <p:nvPr/>
        </p:nvSpPr>
        <p:spPr>
          <a:xfrm>
            <a:off x="548640" y="1691640"/>
            <a:ext cx="1965960" cy="329184"/>
          </a:xfrm>
          <a:prstGeom prst="rect">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latin typeface="Helvetica Neue"/>
              </a:rPr>
              <a:t>bank</a:t>
            </a:r>
          </a:p>
        </p:txBody>
      </p:sp>
      <p:sp>
        <p:nvSpPr>
          <p:cNvPr id="7" name="Rectangle 6"/>
          <p:cNvSpPr/>
          <p:nvPr/>
        </p:nvSpPr>
        <p:spPr>
          <a:xfrm>
            <a:off x="548640" y="2020824"/>
            <a:ext cx="1965960" cy="530352"/>
          </a:xfrm>
          <a:prstGeom prst="rect">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93976"/>
            <a:ext cx="1828800" cy="347472"/>
          </a:xfrm>
          <a:prstGeom prst="rect">
            <a:avLst/>
          </a:prstGeom>
          <a:noFill/>
        </p:spPr>
        <p:txBody>
          <a:bodyPr wrap="square" lIns="0" rIns="0" tIns="0" bIns="0" anchor="t">
            <a:spAutoFit/>
          </a:bodyPr>
          <a:lstStyle/>
          <a:p>
            <a:pPr algn="l">
              <a:lnSpc>
                <a:spcPct val="100000"/>
              </a:lnSpc>
              <a:spcAft>
                <a:spcPts val="0"/>
              </a:spcAft>
            </a:pPr>
            <a:r>
              <a:rPr sz="900" b="0" i="0">
                <a:solidFill>
                  <a:srgbClr val="14212B"/>
                </a:solidFill>
                <a:latin typeface="Menlo"/>
              </a:rPr>
              <a:t>bank_code</a:t>
            </a:r>
          </a:p>
          <a:p>
            <a:pPr algn="l">
              <a:lnSpc>
                <a:spcPct val="100000"/>
              </a:lnSpc>
              <a:spcAft>
                <a:spcPts val="0"/>
              </a:spcAft>
            </a:pPr>
            <a:r>
              <a:rPr sz="900" b="0" i="0">
                <a:solidFill>
                  <a:srgbClr val="14212B"/>
                </a:solidFill>
                <a:latin typeface="Menlo"/>
              </a:rPr>
              <a:t>bank_name</a:t>
            </a:r>
          </a:p>
        </p:txBody>
      </p:sp>
      <p:sp>
        <p:nvSpPr>
          <p:cNvPr id="9" name="Rectangle 8"/>
          <p:cNvSpPr/>
          <p:nvPr/>
        </p:nvSpPr>
        <p:spPr>
          <a:xfrm>
            <a:off x="2697480" y="1691640"/>
            <a:ext cx="1965960" cy="329184"/>
          </a:xfrm>
          <a:prstGeom prst="rect">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latin typeface="Helvetica Neue"/>
              </a:rPr>
              <a:t>account</a:t>
            </a:r>
          </a:p>
        </p:txBody>
      </p:sp>
      <p:sp>
        <p:nvSpPr>
          <p:cNvPr id="10" name="Rectangle 9"/>
          <p:cNvSpPr/>
          <p:nvPr/>
        </p:nvSpPr>
        <p:spPr>
          <a:xfrm>
            <a:off x="2697480" y="2020824"/>
            <a:ext cx="1965960" cy="1225296"/>
          </a:xfrm>
          <a:prstGeom prst="rect">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2093976"/>
            <a:ext cx="1828800" cy="1042416"/>
          </a:xfrm>
          <a:prstGeom prst="rect">
            <a:avLst/>
          </a:prstGeom>
          <a:noFill/>
        </p:spPr>
        <p:txBody>
          <a:bodyPr wrap="square" lIns="0" rIns="0" tIns="0" bIns="0" anchor="t">
            <a:spAutoFit/>
          </a:bodyPr>
          <a:lstStyle/>
          <a:p>
            <a:pPr algn="l">
              <a:lnSpc>
                <a:spcPct val="100000"/>
              </a:lnSpc>
              <a:spcAft>
                <a:spcPts val="0"/>
              </a:spcAft>
            </a:pPr>
            <a:r>
              <a:rPr sz="900" b="0" i="0">
                <a:solidFill>
                  <a:srgbClr val="14212B"/>
                </a:solidFill>
                <a:latin typeface="Menlo"/>
              </a:rPr>
              <a:t>account_id</a:t>
            </a:r>
          </a:p>
          <a:p>
            <a:pPr algn="l">
              <a:lnSpc>
                <a:spcPct val="100000"/>
              </a:lnSpc>
              <a:spcAft>
                <a:spcPts val="0"/>
              </a:spcAft>
            </a:pPr>
            <a:r>
              <a:rPr sz="900" b="0" i="0">
                <a:solidFill>
                  <a:srgbClr val="14212B"/>
                </a:solidFill>
                <a:latin typeface="Menlo"/>
              </a:rPr>
              <a:t>entity_id</a:t>
            </a:r>
          </a:p>
          <a:p>
            <a:pPr algn="l">
              <a:lnSpc>
                <a:spcPct val="100000"/>
              </a:lnSpc>
              <a:spcAft>
                <a:spcPts val="0"/>
              </a:spcAft>
            </a:pPr>
            <a:r>
              <a:rPr sz="900" b="0" i="0">
                <a:solidFill>
                  <a:srgbClr val="14212B"/>
                </a:solidFill>
                <a:latin typeface="Menlo"/>
              </a:rPr>
              <a:t>account_number</a:t>
            </a:r>
          </a:p>
          <a:p>
            <a:pPr algn="l">
              <a:lnSpc>
                <a:spcPct val="100000"/>
              </a:lnSpc>
              <a:spcAft>
                <a:spcPts val="0"/>
              </a:spcAft>
            </a:pPr>
            <a:r>
              <a:rPr sz="900" b="0" i="0">
                <a:solidFill>
                  <a:srgbClr val="14212B"/>
                </a:solidFill>
                <a:latin typeface="Menlo"/>
              </a:rPr>
              <a:t>program_id</a:t>
            </a:r>
          </a:p>
          <a:p>
            <a:pPr algn="l">
              <a:lnSpc>
                <a:spcPct val="100000"/>
              </a:lnSpc>
              <a:spcAft>
                <a:spcPts val="0"/>
              </a:spcAft>
            </a:pPr>
            <a:r>
              <a:rPr sz="900" b="0" i="0">
                <a:solidFill>
                  <a:srgbClr val="14212B"/>
                </a:solidFill>
                <a:latin typeface="Menlo"/>
              </a:rPr>
              <a:t>available_balance</a:t>
            </a:r>
          </a:p>
          <a:p>
            <a:pPr algn="l">
              <a:lnSpc>
                <a:spcPct val="100000"/>
              </a:lnSpc>
              <a:spcAft>
                <a:spcPts val="0"/>
              </a:spcAft>
            </a:pPr>
            <a:r>
              <a:rPr sz="900" b="0" i="0">
                <a:solidFill>
                  <a:srgbClr val="14212B"/>
                </a:solidFill>
                <a:latin typeface="Menlo"/>
              </a:rPr>
              <a:t>bank_code</a:t>
            </a:r>
          </a:p>
        </p:txBody>
      </p:sp>
      <p:sp>
        <p:nvSpPr>
          <p:cNvPr id="12" name="Rectangle 11"/>
          <p:cNvSpPr/>
          <p:nvPr/>
        </p:nvSpPr>
        <p:spPr>
          <a:xfrm>
            <a:off x="4846320" y="1691640"/>
            <a:ext cx="1965960" cy="329184"/>
          </a:xfrm>
          <a:prstGeom prst="rect">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latin typeface="Helvetica Neue"/>
              </a:rPr>
              <a:t>transaction</a:t>
            </a:r>
          </a:p>
        </p:txBody>
      </p:sp>
      <p:sp>
        <p:nvSpPr>
          <p:cNvPr id="13" name="Rectangle 12"/>
          <p:cNvSpPr/>
          <p:nvPr/>
        </p:nvSpPr>
        <p:spPr>
          <a:xfrm>
            <a:off x="4846320" y="2020824"/>
            <a:ext cx="1965960" cy="1572768"/>
          </a:xfrm>
          <a:prstGeom prst="rect">
            <a:avLst/>
          </a:prstGeom>
          <a:solidFill>
            <a:srgbClr val="FFFFFF"/>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56048" y="2093976"/>
            <a:ext cx="1828800" cy="1389888"/>
          </a:xfrm>
          <a:prstGeom prst="rect">
            <a:avLst/>
          </a:prstGeom>
          <a:noFill/>
        </p:spPr>
        <p:txBody>
          <a:bodyPr wrap="square" lIns="0" rIns="0" tIns="0" bIns="0" anchor="t">
            <a:spAutoFit/>
          </a:bodyPr>
          <a:lstStyle/>
          <a:p>
            <a:pPr algn="l">
              <a:lnSpc>
                <a:spcPct val="100000"/>
              </a:lnSpc>
              <a:spcAft>
                <a:spcPts val="0"/>
              </a:spcAft>
            </a:pPr>
            <a:r>
              <a:rPr sz="900" b="0" i="0">
                <a:solidFill>
                  <a:srgbClr val="14212B"/>
                </a:solidFill>
                <a:latin typeface="Menlo"/>
              </a:rPr>
              <a:t>transaction_id</a:t>
            </a:r>
          </a:p>
          <a:p>
            <a:pPr algn="l">
              <a:lnSpc>
                <a:spcPct val="100000"/>
              </a:lnSpc>
              <a:spcAft>
                <a:spcPts val="0"/>
              </a:spcAft>
            </a:pPr>
            <a:r>
              <a:rPr sz="900" b="0" i="0">
                <a:solidFill>
                  <a:srgbClr val="14212B"/>
                </a:solidFill>
                <a:latin typeface="Menlo"/>
              </a:rPr>
              <a:t>account_id</a:t>
            </a:r>
          </a:p>
          <a:p>
            <a:pPr algn="l">
              <a:lnSpc>
                <a:spcPct val="100000"/>
              </a:lnSpc>
              <a:spcAft>
                <a:spcPts val="0"/>
              </a:spcAft>
            </a:pPr>
            <a:r>
              <a:rPr sz="900" b="0" i="0">
                <a:solidFill>
                  <a:srgbClr val="14212B"/>
                </a:solidFill>
                <a:latin typeface="Menlo"/>
              </a:rPr>
              <a:t>transaction_date</a:t>
            </a:r>
          </a:p>
          <a:p>
            <a:pPr algn="l">
              <a:lnSpc>
                <a:spcPct val="100000"/>
              </a:lnSpc>
              <a:spcAft>
                <a:spcPts val="0"/>
              </a:spcAft>
            </a:pPr>
            <a:r>
              <a:rPr sz="900" b="0" i="0">
                <a:solidFill>
                  <a:srgbClr val="14212B"/>
                </a:solidFill>
                <a:latin typeface="Menlo"/>
              </a:rPr>
              <a:t>transaction_type</a:t>
            </a:r>
          </a:p>
          <a:p>
            <a:pPr algn="l">
              <a:lnSpc>
                <a:spcPct val="100000"/>
              </a:lnSpc>
              <a:spcAft>
                <a:spcPts val="0"/>
              </a:spcAft>
            </a:pPr>
            <a:r>
              <a:rPr sz="900" b="1" i="0">
                <a:solidFill>
                  <a:srgbClr val="A8690A"/>
                </a:solidFill>
                <a:latin typeface="Menlo"/>
              </a:rPr>
              <a:t>description</a:t>
            </a:r>
          </a:p>
          <a:p>
            <a:pPr algn="l">
              <a:lnSpc>
                <a:spcPct val="100000"/>
              </a:lnSpc>
              <a:spcAft>
                <a:spcPts val="0"/>
              </a:spcAft>
            </a:pPr>
            <a:r>
              <a:rPr sz="900" b="0" i="0">
                <a:solidFill>
                  <a:srgbClr val="14212B"/>
                </a:solidFill>
                <a:latin typeface="Menlo"/>
              </a:rPr>
              <a:t>transaction_amount</a:t>
            </a:r>
          </a:p>
          <a:p>
            <a:pPr algn="l">
              <a:lnSpc>
                <a:spcPct val="100000"/>
              </a:lnSpc>
              <a:spcAft>
                <a:spcPts val="0"/>
              </a:spcAft>
            </a:pPr>
            <a:r>
              <a:rPr sz="900" b="0" i="0">
                <a:solidFill>
                  <a:srgbClr val="14212B"/>
                </a:solidFill>
                <a:latin typeface="Menlo"/>
              </a:rPr>
              <a:t>transaction_reference_id</a:t>
            </a:r>
          </a:p>
          <a:p>
            <a:pPr algn="l">
              <a:lnSpc>
                <a:spcPct val="100000"/>
              </a:lnSpc>
              <a:spcAft>
                <a:spcPts val="0"/>
              </a:spcAft>
            </a:pPr>
            <a:r>
              <a:rPr sz="900" b="0" i="0">
                <a:solidFill>
                  <a:srgbClr val="14212B"/>
                </a:solidFill>
                <a:latin typeface="Menlo"/>
              </a:rPr>
              <a:t>utr_number</a:t>
            </a:r>
          </a:p>
        </p:txBody>
      </p:sp>
      <p:cxnSp>
        <p:nvCxnSpPr>
          <p:cNvPr id="15" name="Connector 14"/>
          <p:cNvCxnSpPr/>
          <p:nvPr/>
        </p:nvCxnSpPr>
        <p:spPr>
          <a:xfrm>
            <a:off x="2514600" y="1856231"/>
            <a:ext cx="182880" cy="0"/>
          </a:xfrm>
          <a:prstGeom prst="line">
            <a:avLst/>
          </a:prstGeom>
          <a:ln w="12700">
            <a:solidFill>
              <a:srgbClr val="5B68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63440" y="1856231"/>
            <a:ext cx="182880" cy="0"/>
          </a:xfrm>
          <a:prstGeom prst="line">
            <a:avLst/>
          </a:prstGeom>
          <a:ln w="12700">
            <a:solidFill>
              <a:srgbClr val="5B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78040" y="1691640"/>
            <a:ext cx="4434840" cy="1234440"/>
          </a:xfrm>
          <a:prstGeom prst="roundRect">
            <a:avLst>
              <a:gd name="adj" fmla="val 8000"/>
            </a:avLst>
          </a:prstGeom>
          <a:noFill/>
          <a:ln w="22225">
            <a:solidFill>
              <a:srgbClr val="B328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1810512"/>
            <a:ext cx="4023360" cy="1051560"/>
          </a:xfrm>
          <a:prstGeom prst="rect">
            <a:avLst/>
          </a:prstGeom>
          <a:noFill/>
        </p:spPr>
        <p:txBody>
          <a:bodyPr wrap="square" lIns="0" rIns="0" tIns="0" bIns="0" anchor="ctr">
            <a:spAutoFit/>
          </a:bodyPr>
          <a:lstStyle/>
          <a:p>
            <a:pPr algn="l">
              <a:lnSpc>
                <a:spcPct val="130000"/>
              </a:lnSpc>
              <a:spcAft>
                <a:spcPts val="0"/>
              </a:spcAft>
            </a:pPr>
            <a:r>
              <a:rPr sz="1000" b="1" i="0">
                <a:solidFill>
                  <a:srgbClr val="B3283C"/>
                </a:solidFill>
                <a:latin typeface="Helvetica Neue"/>
              </a:rPr>
              <a:t>what the brief needs</a:t>
            </a:r>
          </a:p>
          <a:p>
            <a:pPr algn="l">
              <a:lnSpc>
                <a:spcPct val="130000"/>
              </a:lnSpc>
              <a:spcAft>
                <a:spcPts val="0"/>
              </a:spcAft>
            </a:pPr>
            <a:r>
              <a:rPr sz="1300" b="1" i="0">
                <a:solidFill>
                  <a:srgbClr val="14212B"/>
                </a:solidFill>
                <a:latin typeface="Helvetica Neue"/>
              </a:rPr>
              <a:t>vendor  ·  category  ·  reconciliation status  ·  vendor list</a:t>
            </a:r>
          </a:p>
          <a:p>
            <a:pPr algn="l">
              <a:lnSpc>
                <a:spcPct val="130000"/>
              </a:lnSpc>
              <a:spcAft>
                <a:spcPts val="0"/>
              </a:spcAft>
            </a:pPr>
            <a:r>
              <a:rPr sz="1100" b="0" i="1">
                <a:solidFill>
                  <a:srgbClr val="B3283C"/>
                </a:solidFill>
                <a:latin typeface="Helvetica Neue"/>
              </a:rPr>
              <a:t>— none of these is a column —</a:t>
            </a:r>
          </a:p>
        </p:txBody>
      </p:sp>
      <p:sp>
        <p:nvSpPr>
          <p:cNvPr id="19" name="TextBox 18"/>
          <p:cNvSpPr txBox="1"/>
          <p:nvPr/>
        </p:nvSpPr>
        <p:spPr>
          <a:xfrm>
            <a:off x="7178040" y="3063240"/>
            <a:ext cx="4434840" cy="822960"/>
          </a:xfrm>
          <a:prstGeom prst="rect">
            <a:avLst/>
          </a:prstGeom>
          <a:noFill/>
        </p:spPr>
        <p:txBody>
          <a:bodyPr wrap="square" lIns="0" rIns="0" tIns="0" bIns="0" anchor="t">
            <a:spAutoFit/>
          </a:bodyPr>
          <a:lstStyle/>
          <a:p>
            <a:pPr algn="l">
              <a:lnSpc>
                <a:spcPct val="120000"/>
              </a:lnSpc>
              <a:spcAft>
                <a:spcPts val="0"/>
              </a:spcAft>
            </a:pPr>
            <a:r>
              <a:rPr sz="1200" b="0" i="0">
                <a:solidFill>
                  <a:srgbClr val="14212B"/>
                </a:solidFill>
                <a:latin typeface="Helvetica Neue"/>
              </a:rPr>
              <a:t>Everything the brief asks about lives inside one free-text field the bank wrote — and the bank wrote it ten different ways.</a:t>
            </a:r>
          </a:p>
        </p:txBody>
      </p:sp>
      <p:sp>
        <p:nvSpPr>
          <p:cNvPr id="20" name="Rounded Rectangle 19"/>
          <p:cNvSpPr/>
          <p:nvPr/>
        </p:nvSpPr>
        <p:spPr>
          <a:xfrm>
            <a:off x="548640" y="4023360"/>
            <a:ext cx="11064240" cy="1417320"/>
          </a:xfrm>
          <a:prstGeom prst="roundRect">
            <a:avLst>
              <a:gd name="adj" fmla="val 6000"/>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60520"/>
            <a:ext cx="10698480" cy="1188720"/>
          </a:xfrm>
          <a:prstGeom prst="rect">
            <a:avLst/>
          </a:prstGeom>
          <a:noFill/>
        </p:spPr>
        <p:txBody>
          <a:bodyPr wrap="square" lIns="0" rIns="0" tIns="0" bIns="0" anchor="ctr">
            <a:spAutoFit/>
          </a:bodyPr>
          <a:lstStyle/>
          <a:p>
            <a:pPr algn="l">
              <a:lnSpc>
                <a:spcPct val="135000"/>
              </a:lnSpc>
              <a:spcAft>
                <a:spcPts val="0"/>
              </a:spcAft>
            </a:pPr>
            <a:r>
              <a:rPr sz="1000" b="0" i="0">
                <a:solidFill>
                  <a:srgbClr val="E6EDF3"/>
                </a:solidFill>
                <a:latin typeface="Menlo"/>
              </a:rPr>
              <a:t>NEFT/211063558731/CNRB/VIJAY SALES                                        </a:t>
            </a:r>
            <a:r>
              <a:rPr sz="1000" b="1" i="0">
                <a:solidFill>
                  <a:srgbClr val="3FC1B0"/>
                </a:solidFill>
                <a:latin typeface="Helvetica Neue"/>
              </a:rPr>
              <a:t>→ vendor is the LAST piece</a:t>
            </a:r>
          </a:p>
          <a:p>
            <a:pPr algn="l">
              <a:lnSpc>
                <a:spcPct val="135000"/>
              </a:lnSpc>
              <a:spcAft>
                <a:spcPts val="0"/>
              </a:spcAft>
            </a:pPr>
            <a:r>
              <a:rPr sz="1000" b="0" i="0">
                <a:solidFill>
                  <a:srgbClr val="E6EDF3"/>
                </a:solidFill>
                <a:latin typeface="Menlo"/>
              </a:rPr>
              <a:t>UPI-CROMA INFINITI-XXXXXX5742-UTIB0300004-615889393979-250728472006064    </a:t>
            </a:r>
            <a:r>
              <a:rPr sz="1000" b="1" i="0">
                <a:solidFill>
                  <a:srgbClr val="3FC1B0"/>
                </a:solidFill>
                <a:latin typeface="Helvetica Neue"/>
              </a:rPr>
              <a:t>→ vendor is the 2nd piece</a:t>
            </a:r>
          </a:p>
          <a:p>
            <a:pPr algn="l">
              <a:lnSpc>
                <a:spcPct val="135000"/>
              </a:lnSpc>
              <a:spcAft>
                <a:spcPts val="0"/>
              </a:spcAft>
            </a:pPr>
            <a:r>
              <a:rPr sz="1000" b="0" i="0">
                <a:solidFill>
                  <a:srgbClr val="E6EDF3"/>
                </a:solidFill>
                <a:latin typeface="Menlo"/>
              </a:rPr>
              <a:t>IMPS/P2A/643463702647/TMBL/443438184353/00/INET/2172/VIJAY SALES/ZBFL…    </a:t>
            </a:r>
            <a:r>
              <a:rPr sz="1000" b="1" i="0">
                <a:solidFill>
                  <a:srgbClr val="3FC1B0"/>
                </a:solidFill>
                <a:latin typeface="Helvetica Neue"/>
              </a:rPr>
              <a:t>→ vendor is the 9th piece</a:t>
            </a:r>
          </a:p>
          <a:p>
            <a:pPr algn="l">
              <a:lnSpc>
                <a:spcPct val="135000"/>
              </a:lnSpc>
              <a:spcAft>
                <a:spcPts val="0"/>
              </a:spcAft>
            </a:pPr>
            <a:r>
              <a:rPr sz="1000" b="0" i="0">
                <a:solidFill>
                  <a:srgbClr val="E6EDF3"/>
                </a:solidFill>
                <a:latin typeface="Menlo"/>
              </a:rPr>
              <a:t>IMPS charges                                                              </a:t>
            </a:r>
            <a:r>
              <a:rPr sz="1000" b="1" i="0">
                <a:solidFill>
                  <a:srgbClr val="3FC1B0"/>
                </a:solidFill>
                <a:latin typeface="Helvetica Neue"/>
              </a:rPr>
              <a:t>→ no vendor at all — a bank fee</a:t>
            </a:r>
          </a:p>
        </p:txBody>
      </p:sp>
      <p:sp>
        <p:nvSpPr>
          <p:cNvPr id="22" name="TextBox 21"/>
          <p:cNvSpPr txBox="1"/>
          <p:nvPr/>
        </p:nvSpPr>
        <p:spPr>
          <a:xfrm>
            <a:off x="548640" y="5577840"/>
            <a:ext cx="2651760" cy="502920"/>
          </a:xfrm>
          <a:prstGeom prst="rect">
            <a:avLst/>
          </a:prstGeom>
          <a:noFill/>
        </p:spPr>
        <p:txBody>
          <a:bodyPr wrap="square" lIns="0" rIns="0" tIns="0" bIns="0" anchor="t">
            <a:spAutoFit/>
          </a:bodyPr>
          <a:lstStyle/>
          <a:p>
            <a:pPr algn="l">
              <a:lnSpc>
                <a:spcPct val="112000"/>
              </a:lnSpc>
              <a:spcAft>
                <a:spcPts val="0"/>
              </a:spcAft>
            </a:pPr>
            <a:r>
              <a:rPr sz="2800" b="1" i="0">
                <a:solidFill>
                  <a:srgbClr val="0A6E78"/>
                </a:solidFill>
                <a:latin typeface="Helvetica Neue"/>
              </a:rPr>
              <a:t>1,00,000</a:t>
            </a:r>
          </a:p>
        </p:txBody>
      </p:sp>
      <p:sp>
        <p:nvSpPr>
          <p:cNvPr id="23" name="TextBox 22"/>
          <p:cNvSpPr txBox="1"/>
          <p:nvPr/>
        </p:nvSpPr>
        <p:spPr>
          <a:xfrm>
            <a:off x="548640" y="6053328"/>
            <a:ext cx="2651760" cy="274320"/>
          </a:xfrm>
          <a:prstGeom prst="rect">
            <a:avLst/>
          </a:prstGeom>
          <a:noFill/>
        </p:spPr>
        <p:txBody>
          <a:bodyPr wrap="square" lIns="0" rIns="0" tIns="0" bIns="0" anchor="t">
            <a:spAutoFit/>
          </a:bodyPr>
          <a:lstStyle/>
          <a:p>
            <a:pPr algn="l">
              <a:lnSpc>
                <a:spcPct val="112000"/>
              </a:lnSpc>
              <a:spcAft>
                <a:spcPts val="0"/>
              </a:spcAft>
            </a:pPr>
            <a:r>
              <a:rPr sz="900" b="0" i="0">
                <a:solidFill>
                  <a:srgbClr val="5B6875"/>
                </a:solidFill>
                <a:latin typeface="Helvetica Neue"/>
              </a:rPr>
              <a:t>transaction rows</a:t>
            </a:r>
          </a:p>
        </p:txBody>
      </p:sp>
      <p:sp>
        <p:nvSpPr>
          <p:cNvPr id="24" name="TextBox 23"/>
          <p:cNvSpPr txBox="1"/>
          <p:nvPr/>
        </p:nvSpPr>
        <p:spPr>
          <a:xfrm>
            <a:off x="3337560" y="5577840"/>
            <a:ext cx="2651760" cy="502920"/>
          </a:xfrm>
          <a:prstGeom prst="rect">
            <a:avLst/>
          </a:prstGeom>
          <a:noFill/>
        </p:spPr>
        <p:txBody>
          <a:bodyPr wrap="square" lIns="0" rIns="0" tIns="0" bIns="0" anchor="t">
            <a:spAutoFit/>
          </a:bodyPr>
          <a:lstStyle/>
          <a:p>
            <a:pPr algn="l">
              <a:lnSpc>
                <a:spcPct val="112000"/>
              </a:lnSpc>
              <a:spcAft>
                <a:spcPts val="0"/>
              </a:spcAft>
            </a:pPr>
            <a:r>
              <a:rPr sz="2800" b="1" i="0">
                <a:solidFill>
                  <a:srgbClr val="0A6E78"/>
                </a:solidFill>
                <a:latin typeface="Helvetica Neue"/>
              </a:rPr>
              <a:t>93,054</a:t>
            </a:r>
          </a:p>
        </p:txBody>
      </p:sp>
      <p:sp>
        <p:nvSpPr>
          <p:cNvPr id="25" name="TextBox 24"/>
          <p:cNvSpPr txBox="1"/>
          <p:nvPr/>
        </p:nvSpPr>
        <p:spPr>
          <a:xfrm>
            <a:off x="3337560" y="6053328"/>
            <a:ext cx="2651760" cy="274320"/>
          </a:xfrm>
          <a:prstGeom prst="rect">
            <a:avLst/>
          </a:prstGeom>
          <a:noFill/>
        </p:spPr>
        <p:txBody>
          <a:bodyPr wrap="square" lIns="0" rIns="0" tIns="0" bIns="0" anchor="t">
            <a:spAutoFit/>
          </a:bodyPr>
          <a:lstStyle/>
          <a:p>
            <a:pPr algn="l">
              <a:lnSpc>
                <a:spcPct val="112000"/>
              </a:lnSpc>
              <a:spcAft>
                <a:spcPts val="0"/>
              </a:spcAft>
            </a:pPr>
            <a:r>
              <a:rPr sz="900" b="0" i="0">
                <a:solidFill>
                  <a:srgbClr val="5B6875"/>
                </a:solidFill>
                <a:latin typeface="Helvetica Neue"/>
              </a:rPr>
              <a:t>distinct description strings</a:t>
            </a:r>
          </a:p>
        </p:txBody>
      </p:sp>
      <p:sp>
        <p:nvSpPr>
          <p:cNvPr id="26" name="TextBox 25"/>
          <p:cNvSpPr txBox="1"/>
          <p:nvPr/>
        </p:nvSpPr>
        <p:spPr>
          <a:xfrm>
            <a:off x="6126479" y="5577840"/>
            <a:ext cx="2651760" cy="502920"/>
          </a:xfrm>
          <a:prstGeom prst="rect">
            <a:avLst/>
          </a:prstGeom>
          <a:noFill/>
        </p:spPr>
        <p:txBody>
          <a:bodyPr wrap="square" lIns="0" rIns="0" tIns="0" bIns="0" anchor="t">
            <a:spAutoFit/>
          </a:bodyPr>
          <a:lstStyle/>
          <a:p>
            <a:pPr algn="l">
              <a:lnSpc>
                <a:spcPct val="112000"/>
              </a:lnSpc>
              <a:spcAft>
                <a:spcPts val="0"/>
              </a:spcAft>
            </a:pPr>
            <a:r>
              <a:rPr sz="2800" b="1" i="0">
                <a:solidFill>
                  <a:srgbClr val="0A6E78"/>
                </a:solidFill>
                <a:latin typeface="Helvetica Neue"/>
              </a:rPr>
              <a:t>10</a:t>
            </a:r>
          </a:p>
        </p:txBody>
      </p:sp>
      <p:sp>
        <p:nvSpPr>
          <p:cNvPr id="27" name="TextBox 26"/>
          <p:cNvSpPr txBox="1"/>
          <p:nvPr/>
        </p:nvSpPr>
        <p:spPr>
          <a:xfrm>
            <a:off x="6126479" y="6053328"/>
            <a:ext cx="2651760" cy="274320"/>
          </a:xfrm>
          <a:prstGeom prst="rect">
            <a:avLst/>
          </a:prstGeom>
          <a:noFill/>
        </p:spPr>
        <p:txBody>
          <a:bodyPr wrap="square" lIns="0" rIns="0" tIns="0" bIns="0" anchor="t">
            <a:spAutoFit/>
          </a:bodyPr>
          <a:lstStyle/>
          <a:p>
            <a:pPr algn="l">
              <a:lnSpc>
                <a:spcPct val="112000"/>
              </a:lnSpc>
              <a:spcAft>
                <a:spcPts val="0"/>
              </a:spcAft>
            </a:pPr>
            <a:r>
              <a:rPr sz="900" b="0" i="0">
                <a:solidFill>
                  <a:srgbClr val="5B6875"/>
                </a:solidFill>
                <a:latin typeface="Helvetica Neue"/>
              </a:rPr>
              <a:t>narration formats</a:t>
            </a:r>
          </a:p>
        </p:txBody>
      </p:sp>
      <p:sp>
        <p:nvSpPr>
          <p:cNvPr id="28" name="TextBox 27"/>
          <p:cNvSpPr txBox="1"/>
          <p:nvPr/>
        </p:nvSpPr>
        <p:spPr>
          <a:xfrm>
            <a:off x="8915399" y="5577840"/>
            <a:ext cx="2651760" cy="502920"/>
          </a:xfrm>
          <a:prstGeom prst="rect">
            <a:avLst/>
          </a:prstGeom>
          <a:noFill/>
        </p:spPr>
        <p:txBody>
          <a:bodyPr wrap="square" lIns="0" rIns="0" tIns="0" bIns="0" anchor="t">
            <a:spAutoFit/>
          </a:bodyPr>
          <a:lstStyle/>
          <a:p>
            <a:pPr algn="l">
              <a:lnSpc>
                <a:spcPct val="112000"/>
              </a:lnSpc>
              <a:spcAft>
                <a:spcPts val="0"/>
              </a:spcAft>
            </a:pPr>
            <a:r>
              <a:rPr sz="2800" b="1" i="0">
                <a:solidFill>
                  <a:srgbClr val="B3283C"/>
                </a:solidFill>
                <a:latin typeface="Helvetica Neue"/>
              </a:rPr>
              <a:t>0</a:t>
            </a:r>
          </a:p>
        </p:txBody>
      </p:sp>
      <p:sp>
        <p:nvSpPr>
          <p:cNvPr id="29" name="TextBox 28"/>
          <p:cNvSpPr txBox="1"/>
          <p:nvPr/>
        </p:nvSpPr>
        <p:spPr>
          <a:xfrm>
            <a:off x="8915399" y="6053328"/>
            <a:ext cx="2651760" cy="274320"/>
          </a:xfrm>
          <a:prstGeom prst="rect">
            <a:avLst/>
          </a:prstGeom>
          <a:noFill/>
        </p:spPr>
        <p:txBody>
          <a:bodyPr wrap="square" lIns="0" rIns="0" tIns="0" bIns="0" anchor="t">
            <a:spAutoFit/>
          </a:bodyPr>
          <a:lstStyle/>
          <a:p>
            <a:pPr algn="l">
              <a:lnSpc>
                <a:spcPct val="112000"/>
              </a:lnSpc>
              <a:spcAft>
                <a:spcPts val="0"/>
              </a:spcAft>
            </a:pPr>
            <a:r>
              <a:rPr sz="900" b="0" i="0">
                <a:solidFill>
                  <a:srgbClr val="5B6875"/>
                </a:solidFill>
                <a:latin typeface="Helvetica Neue"/>
              </a:rPr>
              <a:t>vendor / category / status columns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4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A  P  P  R  O  A  C  H     ·     A  R  C  H  I  T  E  C  T  U  R  E</a:t>
            </a:r>
          </a:p>
        </p:txBody>
      </p:sp>
      <p:sp>
        <p:nvSpPr>
          <p:cNvPr id="5" name="TextBox 4"/>
          <p:cNvSpPr txBox="1"/>
          <p:nvPr/>
        </p:nvSpPr>
        <p:spPr>
          <a:xfrm>
            <a:off x="548640" y="603504"/>
            <a:ext cx="11064240" cy="640080"/>
          </a:xfrm>
          <a:prstGeom prst="rect">
            <a:avLst/>
          </a:prstGeom>
          <a:noFill/>
        </p:spPr>
        <p:txBody>
          <a:bodyPr wrap="square" lIns="0" rIns="0" tIns="0" bIns="0" anchor="t">
            <a:spAutoFit/>
          </a:bodyPr>
          <a:lstStyle/>
          <a:p>
            <a:pPr algn="l">
              <a:lnSpc>
                <a:spcPct val="112000"/>
              </a:lnSpc>
              <a:spcAft>
                <a:spcPts val="0"/>
              </a:spcAft>
            </a:pPr>
            <a:r>
              <a:rPr sz="1900" b="1" i="0">
                <a:solidFill>
                  <a:srgbClr val="14212B"/>
                </a:solidFill>
                <a:latin typeface="Helvetica Neue"/>
              </a:rPr>
              <a:t>Do the hard work once, at load time. </a:t>
            </a:r>
            <a:r>
              <a:rPr sz="1900" b="0" i="0">
                <a:solidFill>
                  <a:srgbClr val="14212B"/>
                </a:solidFill>
                <a:latin typeface="Helvetica Neue"/>
              </a:rPr>
              <a:t>Then every question is a checked SQL query — and the model never touches a number.</a:t>
            </a:r>
          </a:p>
        </p:txBody>
      </p:sp>
      <p:sp>
        <p:nvSpPr>
          <p:cNvPr id="6" name="Rectangle 5"/>
          <p:cNvSpPr/>
          <p:nvPr/>
        </p:nvSpPr>
        <p:spPr>
          <a:xfrm>
            <a:off x="457200" y="1298448"/>
            <a:ext cx="11274552" cy="932688"/>
          </a:xfrm>
          <a:prstGeom prst="rect">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353312"/>
            <a:ext cx="4572000" cy="182880"/>
          </a:xfrm>
          <a:prstGeom prst="rect">
            <a:avLst/>
          </a:prstGeom>
          <a:noFill/>
        </p:spPr>
        <p:txBody>
          <a:bodyPr wrap="square" lIns="0" rIns="0" tIns="0" bIns="0" anchor="t">
            <a:spAutoFit/>
          </a:bodyPr>
          <a:lstStyle/>
          <a:p>
            <a:pPr algn="l">
              <a:lnSpc>
                <a:spcPct val="112000"/>
              </a:lnSpc>
              <a:spcAft>
                <a:spcPts val="0"/>
              </a:spcAft>
            </a:pPr>
            <a:r>
              <a:rPr sz="800" b="1" i="0">
                <a:solidFill>
                  <a:srgbClr val="5B6875"/>
                </a:solidFill>
                <a:latin typeface="Helvetica Neue"/>
              </a:rPr>
              <a:t>G  I  V  E  N</a:t>
            </a:r>
          </a:p>
        </p:txBody>
      </p:sp>
      <p:sp>
        <p:nvSpPr>
          <p:cNvPr id="8" name="Rectangle 7"/>
          <p:cNvSpPr/>
          <p:nvPr/>
        </p:nvSpPr>
        <p:spPr>
          <a:xfrm>
            <a:off x="457200" y="2331720"/>
            <a:ext cx="11274552" cy="1371600"/>
          </a:xfrm>
          <a:prstGeom prst="rect">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386584"/>
            <a:ext cx="4572000" cy="182880"/>
          </a:xfrm>
          <a:prstGeom prst="rect">
            <a:avLst/>
          </a:prstGeom>
          <a:noFill/>
        </p:spPr>
        <p:txBody>
          <a:bodyPr wrap="square" lIns="0" rIns="0" tIns="0" bIns="0" anchor="t">
            <a:spAutoFit/>
          </a:bodyPr>
          <a:lstStyle/>
          <a:p>
            <a:pPr algn="l">
              <a:lnSpc>
                <a:spcPct val="112000"/>
              </a:lnSpc>
              <a:spcAft>
                <a:spcPts val="0"/>
              </a:spcAft>
            </a:pPr>
            <a:r>
              <a:rPr sz="800" b="1" i="0">
                <a:solidFill>
                  <a:srgbClr val="5B6875"/>
                </a:solidFill>
                <a:latin typeface="Helvetica Neue"/>
              </a:rPr>
              <a:t>B  U  I  L  T     O  N  C  E        ·        A  T     L  O  A  D     T  I  M  E</a:t>
            </a:r>
          </a:p>
        </p:txBody>
      </p:sp>
      <p:sp>
        <p:nvSpPr>
          <p:cNvPr id="10" name="Rectangle 9"/>
          <p:cNvSpPr/>
          <p:nvPr/>
        </p:nvSpPr>
        <p:spPr>
          <a:xfrm>
            <a:off x="457200" y="3803904"/>
            <a:ext cx="11274552" cy="2724912"/>
          </a:xfrm>
          <a:prstGeom prst="rect">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858768"/>
            <a:ext cx="4572000" cy="182880"/>
          </a:xfrm>
          <a:prstGeom prst="rect">
            <a:avLst/>
          </a:prstGeom>
          <a:noFill/>
        </p:spPr>
        <p:txBody>
          <a:bodyPr wrap="square" lIns="0" rIns="0" tIns="0" bIns="0" anchor="t">
            <a:spAutoFit/>
          </a:bodyPr>
          <a:lstStyle/>
          <a:p>
            <a:pPr algn="l">
              <a:lnSpc>
                <a:spcPct val="112000"/>
              </a:lnSpc>
              <a:spcAft>
                <a:spcPts val="0"/>
              </a:spcAft>
            </a:pPr>
            <a:r>
              <a:rPr sz="800" b="1" i="0">
                <a:solidFill>
                  <a:srgbClr val="5B6875"/>
                </a:solidFill>
                <a:latin typeface="Helvetica Neue"/>
              </a:rPr>
              <a:t>P  E  R     Q  U  E  S  T  I  O  N</a:t>
            </a:r>
          </a:p>
        </p:txBody>
      </p:sp>
      <p:sp>
        <p:nvSpPr>
          <p:cNvPr id="12" name="Rounded Rectangle 11"/>
          <p:cNvSpPr/>
          <p:nvPr/>
        </p:nvSpPr>
        <p:spPr>
          <a:xfrm>
            <a:off x="777240" y="1554480"/>
            <a:ext cx="1051560" cy="438912"/>
          </a:xfrm>
          <a:prstGeom prst="roundRect">
            <a:avLst>
              <a:gd name="adj" fmla="val 18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F4E79"/>
                </a:solidFill>
                <a:latin typeface="Helvetica Neue"/>
              </a:rPr>
              <a:t>bank</a:t>
            </a:r>
          </a:p>
        </p:txBody>
      </p:sp>
      <p:sp>
        <p:nvSpPr>
          <p:cNvPr id="13" name="Rounded Rectangle 12"/>
          <p:cNvSpPr/>
          <p:nvPr/>
        </p:nvSpPr>
        <p:spPr>
          <a:xfrm>
            <a:off x="2057400" y="1554480"/>
            <a:ext cx="1051560" cy="438912"/>
          </a:xfrm>
          <a:prstGeom prst="roundRect">
            <a:avLst>
              <a:gd name="adj" fmla="val 18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F4E79"/>
                </a:solidFill>
                <a:latin typeface="Helvetica Neue"/>
              </a:rPr>
              <a:t>account</a:t>
            </a:r>
          </a:p>
        </p:txBody>
      </p:sp>
      <p:sp>
        <p:nvSpPr>
          <p:cNvPr id="14" name="Rounded Rectangle 13"/>
          <p:cNvSpPr/>
          <p:nvPr/>
        </p:nvSpPr>
        <p:spPr>
          <a:xfrm>
            <a:off x="3337560" y="1554480"/>
            <a:ext cx="1234440" cy="438912"/>
          </a:xfrm>
          <a:prstGeom prst="roundRect">
            <a:avLst>
              <a:gd name="adj" fmla="val 18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F4E79"/>
                </a:solidFill>
                <a:latin typeface="Helvetica Neue"/>
              </a:rPr>
              <a:t>transaction</a:t>
            </a:r>
          </a:p>
        </p:txBody>
      </p:sp>
      <p:sp>
        <p:nvSpPr>
          <p:cNvPr id="15" name="Rounded Rectangle 14"/>
          <p:cNvSpPr/>
          <p:nvPr/>
        </p:nvSpPr>
        <p:spPr>
          <a:xfrm>
            <a:off x="4846320" y="1554480"/>
            <a:ext cx="1280160" cy="438912"/>
          </a:xfrm>
          <a:prstGeom prst="roundRect">
            <a:avLst>
              <a:gd name="adj" fmla="val 18000"/>
            </a:avLst>
          </a:prstGeom>
          <a:solidFill>
            <a:srgbClr val="FDF0DC"/>
          </a:solidFill>
          <a:ln w="25400">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8A5309"/>
                </a:solidFill>
                <a:latin typeface="Helvetica Neue"/>
              </a:rPr>
              <a:t>description</a:t>
            </a:r>
          </a:p>
        </p:txBody>
      </p:sp>
      <p:sp>
        <p:nvSpPr>
          <p:cNvPr id="16" name="Rounded Rectangle 15"/>
          <p:cNvSpPr/>
          <p:nvPr/>
        </p:nvSpPr>
        <p:spPr>
          <a:xfrm>
            <a:off x="6492240" y="1554480"/>
            <a:ext cx="3063240" cy="438912"/>
          </a:xfrm>
          <a:prstGeom prst="roundRect">
            <a:avLst>
              <a:gd name="adj" fmla="val 18000"/>
            </a:avLst>
          </a:prstGeom>
          <a:noFill/>
          <a:ln w="19050">
            <a:solidFill>
              <a:srgbClr val="B328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a:solidFill>
                  <a:srgbClr val="B3283C"/>
                </a:solidFill>
                <a:latin typeface="Helvetica Neue"/>
              </a:rPr>
              <a:t>vendor  ·  category  ·  reconciliation</a:t>
            </a:r>
          </a:p>
        </p:txBody>
      </p:sp>
      <p:sp>
        <p:nvSpPr>
          <p:cNvPr id="17" name="TextBox 16"/>
          <p:cNvSpPr txBox="1"/>
          <p:nvPr/>
        </p:nvSpPr>
        <p:spPr>
          <a:xfrm>
            <a:off x="9646920" y="1554480"/>
            <a:ext cx="2011680" cy="438912"/>
          </a:xfrm>
          <a:prstGeom prst="rect">
            <a:avLst/>
          </a:prstGeom>
          <a:noFill/>
        </p:spPr>
        <p:txBody>
          <a:bodyPr wrap="square" lIns="0" rIns="0" tIns="0" bIns="0" anchor="ctr">
            <a:spAutoFit/>
          </a:bodyPr>
          <a:lstStyle/>
          <a:p>
            <a:pPr algn="l">
              <a:lnSpc>
                <a:spcPct val="112000"/>
              </a:lnSpc>
              <a:spcAft>
                <a:spcPts val="0"/>
              </a:spcAft>
            </a:pPr>
            <a:r>
              <a:rPr sz="1000" b="1" i="0">
                <a:solidFill>
                  <a:srgbClr val="B3283C"/>
                </a:solidFill>
                <a:latin typeface="Helvetica Neue"/>
              </a:rPr>
              <a:t>not columns</a:t>
            </a:r>
          </a:p>
        </p:txBody>
      </p:sp>
      <p:cxnSp>
        <p:nvCxnSpPr>
          <p:cNvPr id="18" name="Connector 17"/>
          <p:cNvCxnSpPr/>
          <p:nvPr/>
        </p:nvCxnSpPr>
        <p:spPr>
          <a:xfrm>
            <a:off x="1828800" y="1773936"/>
            <a:ext cx="228600" cy="0"/>
          </a:xfrm>
          <a:prstGeom prst="line">
            <a:avLst/>
          </a:prstGeom>
          <a:ln w="1587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08960" y="1773936"/>
            <a:ext cx="228600" cy="0"/>
          </a:xfrm>
          <a:prstGeom prst="line">
            <a:avLst/>
          </a:prstGeom>
          <a:ln w="1587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1773936"/>
            <a:ext cx="274320" cy="0"/>
          </a:xfrm>
          <a:prstGeom prst="line">
            <a:avLst/>
          </a:prstGeom>
          <a:ln w="25400">
            <a:solidFill>
              <a:srgbClr val="A869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26480" y="1773936"/>
            <a:ext cx="365760" cy="0"/>
          </a:xfrm>
          <a:prstGeom prst="line">
            <a:avLst/>
          </a:prstGeom>
          <a:ln w="15875">
            <a:solidFill>
              <a:srgbClr val="B3283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2761488"/>
            <a:ext cx="1463040" cy="438912"/>
          </a:xfrm>
          <a:prstGeom prst="roundRect">
            <a:avLst>
              <a:gd name="adj" fmla="val 18000"/>
            </a:avLst>
          </a:prstGeom>
          <a:solidFill>
            <a:srgbClr val="E3F2F1"/>
          </a:solidFill>
          <a:ln w="1905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1  PARSE</a:t>
            </a:r>
          </a:p>
        </p:txBody>
      </p:sp>
      <p:cxnSp>
        <p:nvCxnSpPr>
          <p:cNvPr id="23" name="Connector 22"/>
          <p:cNvCxnSpPr/>
          <p:nvPr/>
        </p:nvCxnSpPr>
        <p:spPr>
          <a:xfrm>
            <a:off x="2240280" y="2980944"/>
            <a:ext cx="182880" cy="0"/>
          </a:xfrm>
          <a:prstGeom prst="line">
            <a:avLst/>
          </a:prstGeom>
          <a:ln w="2540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423160" y="2761488"/>
            <a:ext cx="1463040" cy="438912"/>
          </a:xfrm>
          <a:prstGeom prst="roundRect">
            <a:avLst>
              <a:gd name="adj" fmla="val 18000"/>
            </a:avLst>
          </a:prstGeom>
          <a:solidFill>
            <a:srgbClr val="E3F2F1"/>
          </a:solidFill>
          <a:ln w="1905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2  CANONICALISE</a:t>
            </a:r>
          </a:p>
        </p:txBody>
      </p:sp>
      <p:cxnSp>
        <p:nvCxnSpPr>
          <p:cNvPr id="25" name="Connector 24"/>
          <p:cNvCxnSpPr/>
          <p:nvPr/>
        </p:nvCxnSpPr>
        <p:spPr>
          <a:xfrm>
            <a:off x="3886200" y="2980944"/>
            <a:ext cx="182880" cy="0"/>
          </a:xfrm>
          <a:prstGeom prst="line">
            <a:avLst/>
          </a:prstGeom>
          <a:ln w="2540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069080" y="2761488"/>
            <a:ext cx="1463040" cy="438912"/>
          </a:xfrm>
          <a:prstGeom prst="roundRect">
            <a:avLst>
              <a:gd name="adj" fmla="val 18000"/>
            </a:avLst>
          </a:prstGeom>
          <a:solidFill>
            <a:srgbClr val="E3F2F1"/>
          </a:solidFill>
          <a:ln w="1905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3  RECONCILE</a:t>
            </a:r>
          </a:p>
        </p:txBody>
      </p:sp>
      <p:cxnSp>
        <p:nvCxnSpPr>
          <p:cNvPr id="27" name="Connector 26"/>
          <p:cNvCxnSpPr/>
          <p:nvPr/>
        </p:nvCxnSpPr>
        <p:spPr>
          <a:xfrm>
            <a:off x="5532120" y="2980944"/>
            <a:ext cx="182880" cy="0"/>
          </a:xfrm>
          <a:prstGeom prst="line">
            <a:avLst/>
          </a:prstGeom>
          <a:ln w="2540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715000" y="2761488"/>
            <a:ext cx="1600200" cy="438912"/>
          </a:xfrm>
          <a:prstGeom prst="roundRect">
            <a:avLst>
              <a:gd name="adj" fmla="val 18000"/>
            </a:avLst>
          </a:prstGeom>
          <a:solidFill>
            <a:srgbClr val="E3F2F1"/>
          </a:solidFill>
          <a:ln w="1905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4  SCORE ANOMALIES</a:t>
            </a:r>
          </a:p>
        </p:txBody>
      </p:sp>
      <p:sp>
        <p:nvSpPr>
          <p:cNvPr id="29" name="Rounded Rectangle 28"/>
          <p:cNvSpPr/>
          <p:nvPr/>
        </p:nvSpPr>
        <p:spPr>
          <a:xfrm>
            <a:off x="7726679" y="2542032"/>
            <a:ext cx="1920240" cy="384048"/>
          </a:xfrm>
          <a:prstGeom prst="roundRect">
            <a:avLst>
              <a:gd name="adj" fmla="val 50000"/>
            </a:avLst>
          </a:prstGeom>
          <a:solidFill>
            <a:srgbClr val="D6EFEE"/>
          </a:solidFill>
          <a:ln w="254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counterparty</a:t>
            </a:r>
          </a:p>
        </p:txBody>
      </p:sp>
      <p:sp>
        <p:nvSpPr>
          <p:cNvPr id="30" name="Rounded Rectangle 29"/>
          <p:cNvSpPr/>
          <p:nvPr/>
        </p:nvSpPr>
        <p:spPr>
          <a:xfrm>
            <a:off x="7726679" y="3090672"/>
            <a:ext cx="1920240" cy="384048"/>
          </a:xfrm>
          <a:prstGeom prst="roundRect">
            <a:avLst>
              <a:gd name="adj" fmla="val 50000"/>
            </a:avLst>
          </a:prstGeom>
          <a:solidFill>
            <a:srgbClr val="D6EFEE"/>
          </a:solidFill>
          <a:ln w="254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transaction_enriched</a:t>
            </a:r>
          </a:p>
        </p:txBody>
      </p:sp>
      <p:cxnSp>
        <p:nvCxnSpPr>
          <p:cNvPr id="31" name="Connector 30"/>
          <p:cNvCxnSpPr/>
          <p:nvPr/>
        </p:nvCxnSpPr>
        <p:spPr>
          <a:xfrm flipV="1">
            <a:off x="7498079" y="2734056"/>
            <a:ext cx="228600" cy="246888"/>
          </a:xfrm>
          <a:prstGeom prst="line">
            <a:avLst/>
          </a:prstGeom>
          <a:ln w="2540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98079" y="2980944"/>
            <a:ext cx="228600" cy="301752"/>
          </a:xfrm>
          <a:prstGeom prst="line">
            <a:avLst/>
          </a:prstGeom>
          <a:ln w="2540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921240" y="2542032"/>
            <a:ext cx="1691640" cy="384048"/>
          </a:xfrm>
          <a:prstGeom prst="roundRect">
            <a:avLst>
              <a:gd name="adj" fmla="val 18000"/>
            </a:avLst>
          </a:prstGeom>
          <a:solidFill>
            <a:srgbClr val="FFFFFF"/>
          </a:solidFill>
          <a:ln w="15875">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075B63"/>
                </a:solidFill>
                <a:latin typeface="Helvetica Neue"/>
              </a:rPr>
              <a:t>13 INTENTS</a:t>
            </a:r>
          </a:p>
        </p:txBody>
      </p:sp>
      <p:sp>
        <p:nvSpPr>
          <p:cNvPr id="34" name="Rounded Rectangle 33"/>
          <p:cNvSpPr/>
          <p:nvPr/>
        </p:nvSpPr>
        <p:spPr>
          <a:xfrm>
            <a:off x="9921240" y="3090672"/>
            <a:ext cx="1691640" cy="384048"/>
          </a:xfrm>
          <a:prstGeom prst="roundRect">
            <a:avLst>
              <a:gd name="adj" fmla="val 18000"/>
            </a:avLst>
          </a:prstGeom>
          <a:solidFill>
            <a:srgbClr val="FFFFFF"/>
          </a:solidFill>
          <a:ln w="15875">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075B63"/>
                </a:solidFill>
                <a:latin typeface="Helvetica Neue"/>
              </a:rPr>
              <a:t>8 INDEXES</a:t>
            </a:r>
          </a:p>
        </p:txBody>
      </p:sp>
      <p:cxnSp>
        <p:nvCxnSpPr>
          <p:cNvPr id="35" name="Connector 34"/>
          <p:cNvCxnSpPr/>
          <p:nvPr/>
        </p:nvCxnSpPr>
        <p:spPr>
          <a:xfrm>
            <a:off x="9646920" y="3282696"/>
            <a:ext cx="274320" cy="0"/>
          </a:xfrm>
          <a:prstGeom prst="line">
            <a:avLst/>
          </a:prstGeom>
          <a:ln w="15875">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646920" y="2734056"/>
            <a:ext cx="274320" cy="0"/>
          </a:xfrm>
          <a:prstGeom prst="line">
            <a:avLst/>
          </a:prstGeom>
          <a:ln w="15875">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77240" y="3364992"/>
            <a:ext cx="5486400" cy="228600"/>
          </a:xfrm>
          <a:prstGeom prst="rect">
            <a:avLst/>
          </a:prstGeom>
          <a:noFill/>
        </p:spPr>
        <p:txBody>
          <a:bodyPr wrap="square" lIns="0" rIns="0" tIns="0" bIns="0" anchor="t">
            <a:spAutoFit/>
          </a:bodyPr>
          <a:lstStyle/>
          <a:p>
            <a:pPr algn="l">
              <a:lnSpc>
                <a:spcPct val="112000"/>
              </a:lnSpc>
              <a:spcAft>
                <a:spcPts val="0"/>
              </a:spcAft>
            </a:pPr>
            <a:r>
              <a:rPr sz="800" b="0" i="1">
                <a:solidFill>
                  <a:srgbClr val="5B6875"/>
                </a:solidFill>
                <a:latin typeface="Helvetica Neue"/>
              </a:rPr>
              <a:t>one pass over 1,00,000 narrations  ·  ~10 s  ·  no model anywhere in this lane</a:t>
            </a:r>
          </a:p>
        </p:txBody>
      </p:sp>
      <p:cxnSp>
        <p:nvCxnSpPr>
          <p:cNvPr id="38" name="Connector 37"/>
          <p:cNvCxnSpPr/>
          <p:nvPr/>
        </p:nvCxnSpPr>
        <p:spPr>
          <a:xfrm flipH="1">
            <a:off x="1508760" y="1993392"/>
            <a:ext cx="3977640" cy="768096"/>
          </a:xfrm>
          <a:prstGeom prst="line">
            <a:avLst/>
          </a:prstGeom>
          <a:ln w="25400">
            <a:solidFill>
              <a:srgbClr val="A869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246120" y="4114800"/>
            <a:ext cx="5669280" cy="2121408"/>
          </a:xfrm>
          <a:prstGeom prst="roundRect">
            <a:avLst>
              <a:gd name="adj" fmla="val 6000"/>
            </a:avLst>
          </a:prstGeom>
          <a:solidFill>
            <a:srgbClr val="EDF7F6"/>
          </a:solidFill>
          <a:ln w="25400">
            <a:solidFill>
              <a:srgbClr val="0A6E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6120" y="4160520"/>
            <a:ext cx="5669280" cy="182880"/>
          </a:xfrm>
          <a:prstGeom prst="rect">
            <a:avLst/>
          </a:prstGeom>
          <a:noFill/>
        </p:spPr>
        <p:txBody>
          <a:bodyPr wrap="square" lIns="0" rIns="0" tIns="0" bIns="0" anchor="t">
            <a:spAutoFit/>
          </a:bodyPr>
          <a:lstStyle/>
          <a:p>
            <a:pPr algn="ctr">
              <a:lnSpc>
                <a:spcPct val="112000"/>
              </a:lnSpc>
              <a:spcAft>
                <a:spcPts val="0"/>
              </a:spcAft>
            </a:pPr>
            <a:r>
              <a:rPr sz="800" b="1" i="0">
                <a:solidFill>
                  <a:srgbClr val="0A6E78"/>
                </a:solidFill>
                <a:latin typeface="Helvetica Neue"/>
              </a:rPr>
              <a:t>N  O     M  O  D  E  L     I  N  S  I  D  E     T  H  I  S     B  O  U  N  D  A  R  Y</a:t>
            </a:r>
          </a:p>
        </p:txBody>
      </p:sp>
      <p:sp>
        <p:nvSpPr>
          <p:cNvPr id="41" name="Rounded Rectangle 40"/>
          <p:cNvSpPr/>
          <p:nvPr/>
        </p:nvSpPr>
        <p:spPr>
          <a:xfrm>
            <a:off x="777240" y="4553712"/>
            <a:ext cx="1051560" cy="438912"/>
          </a:xfrm>
          <a:prstGeom prst="roundRect">
            <a:avLst>
              <a:gd name="adj" fmla="val 50000"/>
            </a:avLst>
          </a:prstGeom>
          <a:solidFill>
            <a:srgbClr val="FFFFFF"/>
          </a:solidFill>
          <a:ln w="15875">
            <a:solidFill>
              <a:srgbClr val="0B24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14212B"/>
                </a:solidFill>
                <a:latin typeface="Helvetica Neue"/>
              </a:rPr>
              <a:t>QUESTION</a:t>
            </a:r>
          </a:p>
        </p:txBody>
      </p:sp>
      <p:sp>
        <p:nvSpPr>
          <p:cNvPr id="42" name="Rounded Rectangle 41"/>
          <p:cNvSpPr/>
          <p:nvPr/>
        </p:nvSpPr>
        <p:spPr>
          <a:xfrm>
            <a:off x="2011680" y="4553712"/>
            <a:ext cx="1051560" cy="438912"/>
          </a:xfrm>
          <a:prstGeom prst="roundRect">
            <a:avLst>
              <a:gd name="adj" fmla="val 18000"/>
            </a:avLst>
          </a:prstGeom>
          <a:solidFill>
            <a:srgbClr val="FFFFFF"/>
          </a:solidFill>
          <a:ln w="15875">
            <a:solidFill>
              <a:srgbClr val="0B24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1  PLAN</a:t>
            </a:r>
          </a:p>
        </p:txBody>
      </p:sp>
      <p:sp>
        <p:nvSpPr>
          <p:cNvPr id="43" name="Rounded Rectangle 42"/>
          <p:cNvSpPr/>
          <p:nvPr/>
        </p:nvSpPr>
        <p:spPr>
          <a:xfrm>
            <a:off x="3429000" y="4553712"/>
            <a:ext cx="1097280" cy="438912"/>
          </a:xfrm>
          <a:prstGeom prst="roundRect">
            <a:avLst>
              <a:gd name="adj" fmla="val 18000"/>
            </a:avLst>
          </a:prstGeom>
          <a:solidFill>
            <a:srgbClr val="FFFFFF"/>
          </a:solidFill>
          <a:ln w="15875">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2  RESOLVE</a:t>
            </a:r>
          </a:p>
        </p:txBody>
      </p:sp>
      <p:sp>
        <p:nvSpPr>
          <p:cNvPr id="44" name="Rounded Rectangle 43"/>
          <p:cNvSpPr/>
          <p:nvPr/>
        </p:nvSpPr>
        <p:spPr>
          <a:xfrm>
            <a:off x="4709160" y="4553712"/>
            <a:ext cx="1097280" cy="438912"/>
          </a:xfrm>
          <a:prstGeom prst="roundRect">
            <a:avLst>
              <a:gd name="adj" fmla="val 18000"/>
            </a:avLst>
          </a:prstGeom>
          <a:solidFill>
            <a:srgbClr val="FDF0DC"/>
          </a:solidFill>
          <a:ln w="25400">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8A5309"/>
                </a:solidFill>
                <a:latin typeface="Helvetica Neue"/>
              </a:rPr>
              <a:t>3  GUARD</a:t>
            </a:r>
          </a:p>
        </p:txBody>
      </p:sp>
      <p:sp>
        <p:nvSpPr>
          <p:cNvPr id="45" name="Rounded Rectangle 44"/>
          <p:cNvSpPr/>
          <p:nvPr/>
        </p:nvSpPr>
        <p:spPr>
          <a:xfrm>
            <a:off x="5989320" y="4553712"/>
            <a:ext cx="1188720" cy="438912"/>
          </a:xfrm>
          <a:prstGeom prst="roundRect">
            <a:avLst>
              <a:gd name="adj" fmla="val 18000"/>
            </a:avLst>
          </a:prstGeom>
          <a:solidFill>
            <a:srgbClr val="D6EFEE"/>
          </a:solidFill>
          <a:ln w="28575">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4  COMPUTE</a:t>
            </a:r>
          </a:p>
        </p:txBody>
      </p:sp>
      <p:sp>
        <p:nvSpPr>
          <p:cNvPr id="46" name="Rounded Rectangle 45"/>
          <p:cNvSpPr/>
          <p:nvPr/>
        </p:nvSpPr>
        <p:spPr>
          <a:xfrm>
            <a:off x="7360920" y="4553712"/>
            <a:ext cx="1280160" cy="438912"/>
          </a:xfrm>
          <a:prstGeom prst="roundRect">
            <a:avLst>
              <a:gd name="adj" fmla="val 50000"/>
            </a:avLst>
          </a:prstGeom>
          <a:solidFill>
            <a:srgbClr val="D6EFEE"/>
          </a:solidFill>
          <a:ln w="254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075B63"/>
                </a:solidFill>
                <a:latin typeface="Helvetica Neue"/>
              </a:rPr>
              <a:t>EVIDENCE</a:t>
            </a:r>
          </a:p>
        </p:txBody>
      </p:sp>
      <p:sp>
        <p:nvSpPr>
          <p:cNvPr id="47" name="Rounded Rectangle 46"/>
          <p:cNvSpPr/>
          <p:nvPr/>
        </p:nvSpPr>
        <p:spPr>
          <a:xfrm>
            <a:off x="9052560" y="4553712"/>
            <a:ext cx="1097280" cy="438912"/>
          </a:xfrm>
          <a:prstGeom prst="roundRect">
            <a:avLst>
              <a:gd name="adj" fmla="val 18000"/>
            </a:avLst>
          </a:prstGeom>
          <a:solidFill>
            <a:srgbClr val="FFFFFF"/>
          </a:solidFill>
          <a:ln w="15875">
            <a:solidFill>
              <a:srgbClr val="0B24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5  NARRATE</a:t>
            </a:r>
          </a:p>
        </p:txBody>
      </p:sp>
      <p:sp>
        <p:nvSpPr>
          <p:cNvPr id="48" name="Rounded Rectangle 47"/>
          <p:cNvSpPr/>
          <p:nvPr/>
        </p:nvSpPr>
        <p:spPr>
          <a:xfrm>
            <a:off x="4160520" y="5532120"/>
            <a:ext cx="960120" cy="438912"/>
          </a:xfrm>
          <a:prstGeom prst="roundRect">
            <a:avLst>
              <a:gd name="adj" fmla="val 18000"/>
            </a:avLst>
          </a:prstGeom>
          <a:solidFill>
            <a:srgbClr val="FBE4E7"/>
          </a:solidFill>
          <a:ln w="22225">
            <a:solidFill>
              <a:srgbClr val="B3283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8E1F30"/>
                </a:solidFill>
                <a:latin typeface="Helvetica Neue"/>
              </a:rPr>
              <a:t>REFUSE</a:t>
            </a:r>
          </a:p>
        </p:txBody>
      </p:sp>
      <p:sp>
        <p:nvSpPr>
          <p:cNvPr id="49" name="Rounded Rectangle 48"/>
          <p:cNvSpPr/>
          <p:nvPr/>
        </p:nvSpPr>
        <p:spPr>
          <a:xfrm>
            <a:off x="5257800" y="5532120"/>
            <a:ext cx="960120" cy="438912"/>
          </a:xfrm>
          <a:prstGeom prst="roundRect">
            <a:avLst>
              <a:gd name="adj" fmla="val 18000"/>
            </a:avLst>
          </a:prstGeom>
          <a:solidFill>
            <a:srgbClr val="FDF0DC"/>
          </a:solidFill>
          <a:ln w="22225">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8A5309"/>
                </a:solidFill>
                <a:latin typeface="Helvetica Neue"/>
              </a:rPr>
              <a:t>CLARIFY</a:t>
            </a:r>
          </a:p>
        </p:txBody>
      </p:sp>
      <p:sp>
        <p:nvSpPr>
          <p:cNvPr id="50" name="Rounded Rectangle 49"/>
          <p:cNvSpPr/>
          <p:nvPr/>
        </p:nvSpPr>
        <p:spPr>
          <a:xfrm>
            <a:off x="7498079" y="5532120"/>
            <a:ext cx="1005840" cy="438912"/>
          </a:xfrm>
          <a:prstGeom prst="roundRect">
            <a:avLst>
              <a:gd name="adj" fmla="val 18000"/>
            </a:avLst>
          </a:prstGeom>
          <a:solidFill>
            <a:srgbClr val="FBE4E7"/>
          </a:solidFill>
          <a:ln w="22225">
            <a:solidFill>
              <a:srgbClr val="B3283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8E1F30"/>
                </a:solidFill>
                <a:latin typeface="Helvetica Neue"/>
              </a:rPr>
              <a:t>REJECT</a:t>
            </a:r>
          </a:p>
        </p:txBody>
      </p:sp>
      <p:sp>
        <p:nvSpPr>
          <p:cNvPr id="51" name="Rounded Rectangle 50"/>
          <p:cNvSpPr/>
          <p:nvPr/>
        </p:nvSpPr>
        <p:spPr>
          <a:xfrm>
            <a:off x="9052560" y="5532120"/>
            <a:ext cx="1097280" cy="438912"/>
          </a:xfrm>
          <a:prstGeom prst="roundRect">
            <a:avLst>
              <a:gd name="adj" fmla="val 18000"/>
            </a:avLst>
          </a:prstGeom>
          <a:solidFill>
            <a:srgbClr val="FDF0DC"/>
          </a:solidFill>
          <a:ln w="25400">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8A5309"/>
                </a:solidFill>
                <a:latin typeface="Helvetica Neue"/>
              </a:rPr>
              <a:t>6  VALIDATE</a:t>
            </a:r>
          </a:p>
        </p:txBody>
      </p:sp>
      <p:sp>
        <p:nvSpPr>
          <p:cNvPr id="52" name="Rounded Rectangle 51"/>
          <p:cNvSpPr/>
          <p:nvPr/>
        </p:nvSpPr>
        <p:spPr>
          <a:xfrm>
            <a:off x="10332720" y="5532120"/>
            <a:ext cx="1325880" cy="438912"/>
          </a:xfrm>
          <a:prstGeom prst="roundRect">
            <a:avLst>
              <a:gd name="adj" fmla="val 18000"/>
            </a:avLst>
          </a:prstGeom>
          <a:solidFill>
            <a:srgbClr val="E3F5EA"/>
          </a:solidFill>
          <a:ln w="31750">
            <a:solidFill>
              <a:srgbClr val="137A4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0C5C32"/>
                </a:solidFill>
                <a:latin typeface="Helvetica Neue"/>
              </a:rPr>
              <a:t>ANSWER</a:t>
            </a:r>
          </a:p>
        </p:txBody>
      </p:sp>
      <p:sp>
        <p:nvSpPr>
          <p:cNvPr id="53" name="Rounded Rectangle 52"/>
          <p:cNvSpPr/>
          <p:nvPr/>
        </p:nvSpPr>
        <p:spPr>
          <a:xfrm>
            <a:off x="4480560" y="6144768"/>
            <a:ext cx="3566160" cy="329184"/>
          </a:xfrm>
          <a:prstGeom prst="roundRect">
            <a:avLst>
              <a:gd name="adj" fmla="val 50000"/>
            </a:avLst>
          </a:prstGeom>
          <a:solidFill>
            <a:srgbClr val="F2F4F6"/>
          </a:solidFill>
          <a:ln w="15875">
            <a:solidFill>
              <a:srgbClr val="5B68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1">
                <a:solidFill>
                  <a:srgbClr val="5B6875"/>
                </a:solidFill>
                <a:latin typeface="Helvetica Neue"/>
              </a:rPr>
              <a:t>LANGUAGE MODEL  ·  understands the question  ·  writes the sentence</a:t>
            </a:r>
          </a:p>
        </p:txBody>
      </p:sp>
      <p:cxnSp>
        <p:nvCxnSpPr>
          <p:cNvPr id="54" name="Connector 53"/>
          <p:cNvCxnSpPr/>
          <p:nvPr/>
        </p:nvCxnSpPr>
        <p:spPr>
          <a:xfrm>
            <a:off x="1828800" y="4773168"/>
            <a:ext cx="182880" cy="0"/>
          </a:xfrm>
          <a:prstGeom prst="line">
            <a:avLst/>
          </a:prstGeom>
          <a:ln w="22225">
            <a:solidFill>
              <a:srgbClr val="0B24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063240" y="4773168"/>
            <a:ext cx="365760" cy="0"/>
          </a:xfrm>
          <a:prstGeom prst="line">
            <a:avLst/>
          </a:prstGeom>
          <a:ln w="22225">
            <a:solidFill>
              <a:srgbClr val="0B24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526280" y="4773168"/>
            <a:ext cx="182880" cy="0"/>
          </a:xfrm>
          <a:prstGeom prst="line">
            <a:avLst/>
          </a:prstGeom>
          <a:ln w="22225">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806440" y="4773168"/>
            <a:ext cx="182880" cy="0"/>
          </a:xfrm>
          <a:prstGeom prst="line">
            <a:avLst/>
          </a:prstGeom>
          <a:ln w="22225">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178040" y="4773168"/>
            <a:ext cx="182880" cy="0"/>
          </a:xfrm>
          <a:prstGeom prst="line">
            <a:avLst/>
          </a:prstGeom>
          <a:ln w="22225">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641080" y="4773168"/>
            <a:ext cx="411480" cy="0"/>
          </a:xfrm>
          <a:prstGeom prst="line">
            <a:avLst/>
          </a:prstGeom>
          <a:ln w="22225">
            <a:solidFill>
              <a:srgbClr val="0B24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601200" y="4992624"/>
            <a:ext cx="0" cy="539496"/>
          </a:xfrm>
          <a:prstGeom prst="line">
            <a:avLst/>
          </a:prstGeom>
          <a:ln w="22225">
            <a:solidFill>
              <a:srgbClr val="0B24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149840" y="5751576"/>
            <a:ext cx="182880" cy="0"/>
          </a:xfrm>
          <a:prstGeom prst="line">
            <a:avLst/>
          </a:prstGeom>
          <a:ln w="31750">
            <a:solidFill>
              <a:srgbClr val="137A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8503920" y="5751576"/>
            <a:ext cx="548640" cy="0"/>
          </a:xfrm>
          <a:prstGeom prst="line">
            <a:avLst/>
          </a:prstGeom>
          <a:ln w="22225">
            <a:solidFill>
              <a:srgbClr val="B328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001000" y="4992624"/>
            <a:ext cx="1097280" cy="539496"/>
          </a:xfrm>
          <a:prstGeom prst="line">
            <a:avLst/>
          </a:prstGeom>
          <a:ln w="15875">
            <a:solidFill>
              <a:srgbClr val="5B687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4645152" y="4992624"/>
            <a:ext cx="429768" cy="539496"/>
          </a:xfrm>
          <a:prstGeom prst="line">
            <a:avLst/>
          </a:prstGeom>
          <a:ln w="22225">
            <a:solidFill>
              <a:srgbClr val="B328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440680" y="4992624"/>
            <a:ext cx="292608" cy="539496"/>
          </a:xfrm>
          <a:prstGeom prst="line">
            <a:avLst/>
          </a:prstGeom>
          <a:ln w="22225">
            <a:solidFill>
              <a:srgbClr val="A869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6583680" y="3474720"/>
            <a:ext cx="2103120" cy="1078992"/>
          </a:xfrm>
          <a:prstGeom prst="line">
            <a:avLst/>
          </a:prstGeom>
          <a:ln w="19050">
            <a:solidFill>
              <a:srgbClr val="0A6E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42032" y="4992624"/>
            <a:ext cx="2212848" cy="1152144"/>
          </a:xfrm>
          <a:prstGeom prst="line">
            <a:avLst/>
          </a:prstGeom>
          <a:ln w="15875">
            <a:solidFill>
              <a:srgbClr val="5B687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863840" y="4992624"/>
            <a:ext cx="1417320" cy="1152144"/>
          </a:xfrm>
          <a:prstGeom prst="line">
            <a:avLst/>
          </a:prstGeom>
          <a:ln w="15875">
            <a:solidFill>
              <a:srgbClr val="5B687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48640" y="6583680"/>
            <a:ext cx="8229600" cy="201168"/>
          </a:xfrm>
          <a:prstGeom prst="rect">
            <a:avLst/>
          </a:prstGeom>
          <a:noFill/>
        </p:spPr>
        <p:txBody>
          <a:bodyPr wrap="square" lIns="0" rIns="0" tIns="0" bIns="0" anchor="t">
            <a:spAutoFit/>
          </a:bodyPr>
          <a:lstStyle/>
          <a:p>
            <a:pPr algn="l">
              <a:lnSpc>
                <a:spcPct val="112000"/>
              </a:lnSpc>
              <a:spcAft>
                <a:spcPts val="0"/>
              </a:spcAft>
            </a:pPr>
            <a:r>
              <a:rPr sz="800" b="0" i="1">
                <a:solidFill>
                  <a:srgbClr val="5B6875"/>
                </a:solidFill>
                <a:latin typeface="Helvetica Neue"/>
              </a:rPr>
              <a:t>Full diagram: docs/architecture.drawio  —  3 tabs: Architecture · Guardrails · Data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5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H  O  W     I  T     W  O  R  K  S     ·     1     O  F     2     —     B  U  I  L  T     O  N  C  E  ,     A  T     L  O  A  D     T  I  M  E</a:t>
            </a:r>
          </a:p>
        </p:txBody>
      </p:sp>
      <p:sp>
        <p:nvSpPr>
          <p:cNvPr id="5" name="TextBox 4"/>
          <p:cNvSpPr txBox="1"/>
          <p:nvPr/>
        </p:nvSpPr>
        <p:spPr>
          <a:xfrm>
            <a:off x="548640" y="621792"/>
            <a:ext cx="11064240" cy="868680"/>
          </a:xfrm>
          <a:prstGeom prst="rect">
            <a:avLst/>
          </a:prstGeom>
          <a:noFill/>
        </p:spPr>
        <p:txBody>
          <a:bodyPr wrap="square" lIns="0" rIns="0" tIns="0" bIns="0" anchor="t">
            <a:spAutoFit/>
          </a:bodyPr>
          <a:lstStyle/>
          <a:p>
            <a:pPr algn="l">
              <a:lnSpc>
                <a:spcPct val="105000"/>
              </a:lnSpc>
              <a:spcAft>
                <a:spcPts val="0"/>
              </a:spcAft>
            </a:pPr>
            <a:r>
              <a:rPr sz="2400" b="1" i="0">
                <a:solidFill>
                  <a:srgbClr val="14212B"/>
                </a:solidFill>
                <a:latin typeface="Helvetica Neue"/>
              </a:rPr>
              <a:t>Turn 1,00,000 bank narrations into two structured tables.</a:t>
            </a:r>
          </a:p>
          <a:p>
            <a:pPr algn="l">
              <a:lnSpc>
                <a:spcPct val="105000"/>
              </a:lnSpc>
              <a:spcAft>
                <a:spcPts val="0"/>
              </a:spcAft>
            </a:pPr>
            <a:r>
              <a:rPr sz="2400" b="1" i="0">
                <a:solidFill>
                  <a:srgbClr val="14212B"/>
                </a:solidFill>
                <a:latin typeface="Helvetica Neue"/>
              </a:rPr>
              <a:t>Every step measured against ground truth.</a:t>
            </a:r>
          </a:p>
        </p:txBody>
      </p:sp>
      <p:sp>
        <p:nvSpPr>
          <p:cNvPr id="6" name="Rounded Rectangle 5"/>
          <p:cNvSpPr/>
          <p:nvPr/>
        </p:nvSpPr>
        <p:spPr>
          <a:xfrm>
            <a:off x="548640" y="1783080"/>
            <a:ext cx="2670048" cy="3749039"/>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2670048" cy="64008"/>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23774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0A6E78"/>
                </a:solidFill>
                <a:latin typeface="Helvetica Neue"/>
              </a:rPr>
              <a:t>1 · PARSE</a:t>
            </a:r>
          </a:p>
        </p:txBody>
      </p:sp>
      <p:sp>
        <p:nvSpPr>
          <p:cNvPr id="9" name="TextBox 8"/>
          <p:cNvSpPr txBox="1"/>
          <p:nvPr/>
        </p:nvSpPr>
        <p:spPr>
          <a:xfrm>
            <a:off x="731520" y="2286000"/>
            <a:ext cx="2377440" cy="640080"/>
          </a:xfrm>
          <a:prstGeom prst="rect">
            <a:avLst/>
          </a:prstGeom>
          <a:noFill/>
        </p:spPr>
        <p:txBody>
          <a:bodyPr wrap="square" lIns="0" rIns="0" tIns="0" bIns="0" anchor="t">
            <a:spAutoFit/>
          </a:bodyPr>
          <a:lstStyle/>
          <a:p>
            <a:pPr algn="l">
              <a:lnSpc>
                <a:spcPct val="112000"/>
              </a:lnSpc>
              <a:spcAft>
                <a:spcPts val="0"/>
              </a:spcAft>
            </a:pPr>
            <a:r>
              <a:rPr sz="3400" b="1" i="0">
                <a:solidFill>
                  <a:srgbClr val="14212B"/>
                </a:solidFill>
                <a:latin typeface="Helvetica Neue"/>
              </a:rPr>
              <a:t>100%</a:t>
            </a:r>
          </a:p>
        </p:txBody>
      </p:sp>
      <p:sp>
        <p:nvSpPr>
          <p:cNvPr id="10" name="TextBox 9"/>
          <p:cNvSpPr txBox="1"/>
          <p:nvPr/>
        </p:nvSpPr>
        <p:spPr>
          <a:xfrm>
            <a:off x="731520" y="2944368"/>
            <a:ext cx="23774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5B6875"/>
                </a:solidFill>
                <a:latin typeface="Helvetica Neue"/>
              </a:rPr>
              <a:t>formats classified · 0 unparsed</a:t>
            </a:r>
          </a:p>
        </p:txBody>
      </p:sp>
      <p:sp>
        <p:nvSpPr>
          <p:cNvPr id="11" name="TextBox 10"/>
          <p:cNvSpPr txBox="1"/>
          <p:nvPr/>
        </p:nvSpPr>
        <p:spPr>
          <a:xfrm>
            <a:off x="731520" y="3520440"/>
            <a:ext cx="2377440" cy="685800"/>
          </a:xfrm>
          <a:prstGeom prst="rect">
            <a:avLst/>
          </a:prstGeom>
          <a:noFill/>
        </p:spPr>
        <p:txBody>
          <a:bodyPr wrap="square" lIns="0" rIns="0" tIns="0" bIns="0" anchor="t">
            <a:spAutoFit/>
          </a:bodyPr>
          <a:lstStyle/>
          <a:p>
            <a:pPr algn="l">
              <a:lnSpc>
                <a:spcPct val="125000"/>
              </a:lnSpc>
              <a:spcAft>
                <a:spcPts val="0"/>
              </a:spcAft>
            </a:pPr>
            <a:r>
              <a:rPr sz="900" b="0" i="0">
                <a:solidFill>
                  <a:srgbClr val="14212B"/>
                </a:solidFill>
                <a:latin typeface="Menlo"/>
              </a:rPr>
              <a:t>UPI-CROMA INFINITI-XXXX…</a:t>
            </a:r>
          </a:p>
          <a:p>
            <a:pPr algn="l">
              <a:lnSpc>
                <a:spcPct val="125000"/>
              </a:lnSpc>
              <a:spcAft>
                <a:spcPts val="0"/>
              </a:spcAft>
            </a:pPr>
            <a:r>
              <a:rPr sz="1000" b="1" i="0">
                <a:solidFill>
                  <a:srgbClr val="14212B"/>
                </a:solidFill>
                <a:latin typeface="Helvetica Neue"/>
              </a:rPr>
              <a:t>→ CROMA INFINITI  (2nd piece)</a:t>
            </a:r>
          </a:p>
        </p:txBody>
      </p:sp>
      <p:sp>
        <p:nvSpPr>
          <p:cNvPr id="12" name="TextBox 11"/>
          <p:cNvSpPr txBox="1"/>
          <p:nvPr/>
        </p:nvSpPr>
        <p:spPr>
          <a:xfrm>
            <a:off x="731520" y="4343400"/>
            <a:ext cx="2377440" cy="10972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Ten formats, one rule each. Unknown shape → excluded, never guessed.</a:t>
            </a:r>
          </a:p>
        </p:txBody>
      </p:sp>
      <p:sp>
        <p:nvSpPr>
          <p:cNvPr id="13" name="Rounded Rectangle 12"/>
          <p:cNvSpPr/>
          <p:nvPr/>
        </p:nvSpPr>
        <p:spPr>
          <a:xfrm>
            <a:off x="3364992" y="1783080"/>
            <a:ext cx="2670048" cy="3749039"/>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4992" y="1783080"/>
            <a:ext cx="2670048" cy="64008"/>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1965960"/>
            <a:ext cx="23774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0A6E78"/>
                </a:solidFill>
                <a:latin typeface="Helvetica Neue"/>
              </a:rPr>
              <a:t>2 · CANONICALISE</a:t>
            </a:r>
          </a:p>
        </p:txBody>
      </p:sp>
      <p:sp>
        <p:nvSpPr>
          <p:cNvPr id="16" name="TextBox 15"/>
          <p:cNvSpPr txBox="1"/>
          <p:nvPr/>
        </p:nvSpPr>
        <p:spPr>
          <a:xfrm>
            <a:off x="3547872" y="2286000"/>
            <a:ext cx="2377440" cy="640080"/>
          </a:xfrm>
          <a:prstGeom prst="rect">
            <a:avLst/>
          </a:prstGeom>
          <a:noFill/>
        </p:spPr>
        <p:txBody>
          <a:bodyPr wrap="square" lIns="0" rIns="0" tIns="0" bIns="0" anchor="t">
            <a:spAutoFit/>
          </a:bodyPr>
          <a:lstStyle/>
          <a:p>
            <a:pPr algn="l">
              <a:lnSpc>
                <a:spcPct val="112000"/>
              </a:lnSpc>
              <a:spcAft>
                <a:spcPts val="0"/>
              </a:spcAft>
            </a:pPr>
            <a:r>
              <a:rPr sz="3400" b="1" i="0">
                <a:solidFill>
                  <a:srgbClr val="14212B"/>
                </a:solidFill>
                <a:latin typeface="Helvetica Neue"/>
              </a:rPr>
              <a:t>186</a:t>
            </a:r>
          </a:p>
        </p:txBody>
      </p:sp>
      <p:sp>
        <p:nvSpPr>
          <p:cNvPr id="17" name="TextBox 16"/>
          <p:cNvSpPr txBox="1"/>
          <p:nvPr/>
        </p:nvSpPr>
        <p:spPr>
          <a:xfrm>
            <a:off x="3547872" y="2944368"/>
            <a:ext cx="23774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5B6875"/>
                </a:solidFill>
                <a:latin typeface="Helvetica Neue"/>
              </a:rPr>
              <a:t>vendors · 99.5% grouped · 0 wrongly merged</a:t>
            </a:r>
          </a:p>
        </p:txBody>
      </p:sp>
      <p:sp>
        <p:nvSpPr>
          <p:cNvPr id="18" name="TextBox 17"/>
          <p:cNvSpPr txBox="1"/>
          <p:nvPr/>
        </p:nvSpPr>
        <p:spPr>
          <a:xfrm>
            <a:off x="3547872" y="3520440"/>
            <a:ext cx="2377440" cy="685800"/>
          </a:xfrm>
          <a:prstGeom prst="rect">
            <a:avLst/>
          </a:prstGeom>
          <a:noFill/>
        </p:spPr>
        <p:txBody>
          <a:bodyPr wrap="square" lIns="0" rIns="0" tIns="0" bIns="0" anchor="t">
            <a:spAutoFit/>
          </a:bodyPr>
          <a:lstStyle/>
          <a:p>
            <a:pPr algn="l">
              <a:lnSpc>
                <a:spcPct val="125000"/>
              </a:lnSpc>
              <a:spcAft>
                <a:spcPts val="0"/>
              </a:spcAft>
            </a:pPr>
            <a:r>
              <a:rPr sz="900" b="0" i="0">
                <a:solidFill>
                  <a:srgbClr val="14212B"/>
                </a:solidFill>
                <a:latin typeface="Menlo"/>
              </a:rPr>
              <a:t>VOLTAS LTD  +  VOLTAS LIMITED</a:t>
            </a:r>
          </a:p>
          <a:p>
            <a:pPr algn="l">
              <a:lnSpc>
                <a:spcPct val="125000"/>
              </a:lnSpc>
              <a:spcAft>
                <a:spcPts val="0"/>
              </a:spcAft>
            </a:pPr>
            <a:r>
              <a:rPr sz="1000" b="1" i="0">
                <a:solidFill>
                  <a:srgbClr val="14212B"/>
                </a:solidFill>
                <a:latin typeface="Helvetica Neue"/>
              </a:rPr>
              <a:t>→ one vendor, 1,521 payments</a:t>
            </a:r>
          </a:p>
        </p:txBody>
      </p:sp>
      <p:sp>
        <p:nvSpPr>
          <p:cNvPr id="19" name="TextBox 18"/>
          <p:cNvSpPr txBox="1"/>
          <p:nvPr/>
        </p:nvSpPr>
        <p:spPr>
          <a:xfrm>
            <a:off x="3547872" y="4343400"/>
            <a:ext cx="2377440" cy="10972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Strip city, drop PVT/LTD, join. No fuzzy matching — SELECTION MOBILE ≠ SELECTRICITY TWO.</a:t>
            </a:r>
          </a:p>
        </p:txBody>
      </p:sp>
      <p:sp>
        <p:nvSpPr>
          <p:cNvPr id="20" name="Rounded Rectangle 19"/>
          <p:cNvSpPr/>
          <p:nvPr/>
        </p:nvSpPr>
        <p:spPr>
          <a:xfrm>
            <a:off x="6181344" y="1783080"/>
            <a:ext cx="2670048" cy="3749039"/>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83080"/>
            <a:ext cx="2670048" cy="64008"/>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23774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0A6E78"/>
                </a:solidFill>
                <a:latin typeface="Helvetica Neue"/>
              </a:rPr>
              <a:t>3 · RECONCILE</a:t>
            </a:r>
          </a:p>
        </p:txBody>
      </p:sp>
      <p:sp>
        <p:nvSpPr>
          <p:cNvPr id="23" name="TextBox 22"/>
          <p:cNvSpPr txBox="1"/>
          <p:nvPr/>
        </p:nvSpPr>
        <p:spPr>
          <a:xfrm>
            <a:off x="6364224" y="2286000"/>
            <a:ext cx="2377440" cy="640080"/>
          </a:xfrm>
          <a:prstGeom prst="rect">
            <a:avLst/>
          </a:prstGeom>
          <a:noFill/>
        </p:spPr>
        <p:txBody>
          <a:bodyPr wrap="square" lIns="0" rIns="0" tIns="0" bIns="0" anchor="t">
            <a:spAutoFit/>
          </a:bodyPr>
          <a:lstStyle/>
          <a:p>
            <a:pPr algn="l">
              <a:lnSpc>
                <a:spcPct val="112000"/>
              </a:lnSpc>
              <a:spcAft>
                <a:spcPts val="0"/>
              </a:spcAft>
            </a:pPr>
            <a:r>
              <a:rPr sz="3400" b="1" i="0">
                <a:solidFill>
                  <a:srgbClr val="14212B"/>
                </a:solidFill>
                <a:latin typeface="Helvetica Neue"/>
              </a:rPr>
              <a:t>99.99%</a:t>
            </a:r>
          </a:p>
        </p:txBody>
      </p:sp>
      <p:sp>
        <p:nvSpPr>
          <p:cNvPr id="24" name="TextBox 23"/>
          <p:cNvSpPr txBox="1"/>
          <p:nvPr/>
        </p:nvSpPr>
        <p:spPr>
          <a:xfrm>
            <a:off x="6364224" y="2944368"/>
            <a:ext cx="23774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5B6875"/>
                </a:solidFill>
                <a:latin typeface="Helvetica Neue"/>
              </a:rPr>
              <a:t>reconciliation status correct</a:t>
            </a:r>
          </a:p>
        </p:txBody>
      </p:sp>
      <p:sp>
        <p:nvSpPr>
          <p:cNvPr id="25" name="TextBox 24"/>
          <p:cNvSpPr txBox="1"/>
          <p:nvPr/>
        </p:nvSpPr>
        <p:spPr>
          <a:xfrm>
            <a:off x="6364224" y="3520440"/>
            <a:ext cx="2377440" cy="685800"/>
          </a:xfrm>
          <a:prstGeom prst="rect">
            <a:avLst/>
          </a:prstGeom>
          <a:noFill/>
        </p:spPr>
        <p:txBody>
          <a:bodyPr wrap="square" lIns="0" rIns="0" tIns="0" bIns="0" anchor="t">
            <a:spAutoFit/>
          </a:bodyPr>
          <a:lstStyle/>
          <a:p>
            <a:pPr algn="l">
              <a:lnSpc>
                <a:spcPct val="125000"/>
              </a:lnSpc>
              <a:spcAft>
                <a:spcPts val="0"/>
              </a:spcAft>
            </a:pPr>
            <a:r>
              <a:rPr sz="900" b="0" i="0">
                <a:solidFill>
                  <a:srgbClr val="14212B"/>
                </a:solidFill>
                <a:latin typeface="Menlo"/>
              </a:rPr>
              <a:t>same UTR + reference, opposite legs</a:t>
            </a:r>
          </a:p>
          <a:p>
            <a:pPr algn="l">
              <a:lnSpc>
                <a:spcPct val="125000"/>
              </a:lnSpc>
              <a:spcAft>
                <a:spcPts val="0"/>
              </a:spcAft>
            </a:pPr>
            <a:r>
              <a:rPr sz="1000" b="1" i="0">
                <a:solidFill>
                  <a:srgbClr val="14212B"/>
                </a:solidFill>
                <a:latin typeface="Helvetica Neue"/>
              </a:rPr>
              <a:t>→ matched_pair · alone → unmatched</a:t>
            </a:r>
          </a:p>
        </p:txBody>
      </p:sp>
      <p:sp>
        <p:nvSpPr>
          <p:cNvPr id="26" name="TextBox 25"/>
          <p:cNvSpPr txBox="1"/>
          <p:nvPr/>
        </p:nvSpPr>
        <p:spPr>
          <a:xfrm>
            <a:off x="6364224" y="4343400"/>
            <a:ext cx="2377440" cy="10972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The brief's 'still unreconciled?' becomes WHERE recon_status = 'unmatched'.</a:t>
            </a:r>
          </a:p>
        </p:txBody>
      </p:sp>
      <p:sp>
        <p:nvSpPr>
          <p:cNvPr id="27" name="Rounded Rectangle 26"/>
          <p:cNvSpPr/>
          <p:nvPr/>
        </p:nvSpPr>
        <p:spPr>
          <a:xfrm>
            <a:off x="8997696" y="1783080"/>
            <a:ext cx="2670048" cy="3749039"/>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97696" y="1783080"/>
            <a:ext cx="2670048" cy="64008"/>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80576" y="1965960"/>
            <a:ext cx="23774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0A6E78"/>
                </a:solidFill>
                <a:latin typeface="Helvetica Neue"/>
              </a:rPr>
              <a:t>4 · SCORE ANOMALIES</a:t>
            </a:r>
          </a:p>
        </p:txBody>
      </p:sp>
      <p:sp>
        <p:nvSpPr>
          <p:cNvPr id="30" name="TextBox 29"/>
          <p:cNvSpPr txBox="1"/>
          <p:nvPr/>
        </p:nvSpPr>
        <p:spPr>
          <a:xfrm>
            <a:off x="9180576" y="2286000"/>
            <a:ext cx="2377440" cy="640080"/>
          </a:xfrm>
          <a:prstGeom prst="rect">
            <a:avLst/>
          </a:prstGeom>
          <a:noFill/>
        </p:spPr>
        <p:txBody>
          <a:bodyPr wrap="square" lIns="0" rIns="0" tIns="0" bIns="0" anchor="t">
            <a:spAutoFit/>
          </a:bodyPr>
          <a:lstStyle/>
          <a:p>
            <a:pPr algn="l">
              <a:lnSpc>
                <a:spcPct val="112000"/>
              </a:lnSpc>
              <a:spcAft>
                <a:spcPts val="0"/>
              </a:spcAft>
            </a:pPr>
            <a:r>
              <a:rPr sz="3400" b="1" i="0">
                <a:solidFill>
                  <a:srgbClr val="14212B"/>
                </a:solidFill>
                <a:latin typeface="Helvetica Neue"/>
              </a:rPr>
              <a:t>36×</a:t>
            </a:r>
          </a:p>
        </p:txBody>
      </p:sp>
      <p:sp>
        <p:nvSpPr>
          <p:cNvPr id="31" name="TextBox 30"/>
          <p:cNvSpPr txBox="1"/>
          <p:nvPr/>
        </p:nvSpPr>
        <p:spPr>
          <a:xfrm>
            <a:off x="9180576" y="2944368"/>
            <a:ext cx="23774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5B6875"/>
                </a:solidFill>
                <a:latin typeface="Helvetica Neue"/>
              </a:rPr>
              <a:t>RMZ Corp: Rs 7.0 L typical → Rs 2.56 Cr</a:t>
            </a:r>
          </a:p>
        </p:txBody>
      </p:sp>
      <p:sp>
        <p:nvSpPr>
          <p:cNvPr id="32" name="TextBox 31"/>
          <p:cNvSpPr txBox="1"/>
          <p:nvPr/>
        </p:nvSpPr>
        <p:spPr>
          <a:xfrm>
            <a:off x="9180576" y="3520440"/>
            <a:ext cx="2377440" cy="685800"/>
          </a:xfrm>
          <a:prstGeom prst="rect">
            <a:avLst/>
          </a:prstGeom>
          <a:noFill/>
        </p:spPr>
        <p:txBody>
          <a:bodyPr wrap="square" lIns="0" rIns="0" tIns="0" bIns="0" anchor="t">
            <a:spAutoFit/>
          </a:bodyPr>
          <a:lstStyle/>
          <a:p>
            <a:pPr algn="l">
              <a:lnSpc>
                <a:spcPct val="125000"/>
              </a:lnSpc>
              <a:spcAft>
                <a:spcPts val="0"/>
              </a:spcAft>
            </a:pPr>
            <a:r>
              <a:rPr sz="900" b="0" i="0">
                <a:solidFill>
                  <a:srgbClr val="14212B"/>
                </a:solidFill>
                <a:latin typeface="Menlo"/>
              </a:rPr>
              <a:t>median + MAD on log(amount)</a:t>
            </a:r>
          </a:p>
          <a:p>
            <a:pPr algn="l">
              <a:lnSpc>
                <a:spcPct val="125000"/>
              </a:lnSpc>
              <a:spcAft>
                <a:spcPts val="0"/>
              </a:spcAft>
            </a:pPr>
            <a:r>
              <a:rPr sz="1000" b="1" i="0">
                <a:solidFill>
                  <a:srgbClr val="14212B"/>
                </a:solidFill>
                <a:latin typeface="Helvetica Neue"/>
              </a:rPr>
              <a:t>→ per vendor · flag |z| &gt; 4</a:t>
            </a:r>
          </a:p>
        </p:txBody>
      </p:sp>
      <p:sp>
        <p:nvSpPr>
          <p:cNvPr id="33" name="TextBox 32"/>
          <p:cNvSpPr txBox="1"/>
          <p:nvPr/>
        </p:nvSpPr>
        <p:spPr>
          <a:xfrm>
            <a:off x="9180576" y="4343400"/>
            <a:ext cx="2377440" cy="10972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Tuned for precision (52.9%), not F1: a false flag damages a correct answer.</a:t>
            </a:r>
          </a:p>
        </p:txBody>
      </p:sp>
      <p:sp>
        <p:nvSpPr>
          <p:cNvPr id="34" name="Rounded Rectangle 33"/>
          <p:cNvSpPr/>
          <p:nvPr/>
        </p:nvSpPr>
        <p:spPr>
          <a:xfrm>
            <a:off x="548640" y="5715000"/>
            <a:ext cx="11064240" cy="621792"/>
          </a:xfrm>
          <a:prstGeom prst="roundRect">
            <a:avLst>
              <a:gd name="adj" fmla="val 10000"/>
            </a:avLst>
          </a:prstGeom>
          <a:solidFill>
            <a:srgbClr val="EDF7F6"/>
          </a:solidFill>
          <a:ln w="127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788152"/>
            <a:ext cx="10607040" cy="502920"/>
          </a:xfrm>
          <a:prstGeom prst="rect">
            <a:avLst/>
          </a:prstGeom>
          <a:noFill/>
        </p:spPr>
        <p:txBody>
          <a:bodyPr wrap="square" lIns="0" rIns="0" tIns="0" bIns="0" anchor="ctr">
            <a:spAutoFit/>
          </a:bodyPr>
          <a:lstStyle/>
          <a:p>
            <a:pPr algn="l">
              <a:lnSpc>
                <a:spcPct val="112000"/>
              </a:lnSpc>
              <a:spcAft>
                <a:spcPts val="0"/>
              </a:spcAft>
            </a:pPr>
            <a:r>
              <a:rPr sz="1200" b="1" i="0">
                <a:solidFill>
                  <a:srgbClr val="0A6E78"/>
                </a:solidFill>
                <a:latin typeface="Helvetica Neue"/>
              </a:rPr>
              <a:t>Result: </a:t>
            </a:r>
            <a:r>
              <a:rPr sz="1200" b="0" i="0">
                <a:solidFill>
                  <a:srgbClr val="14212B"/>
                </a:solidFill>
                <a:latin typeface="Helvetica Neue"/>
              </a:rPr>
              <a:t>counterparty (186 rows) + transaction_enriched (1,00,000 rows, 8 indexes). After this, “how much did we pay X last month” is an indexed GROUP BY.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6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H  O  W     I  T     W  O  R  K  S     ·     2     O  F     2     —     P  E  R     Q  U  E  S  T  I  O  N</a:t>
            </a:r>
          </a:p>
        </p:txBody>
      </p:sp>
      <p:sp>
        <p:nvSpPr>
          <p:cNvPr id="5" name="TextBox 4"/>
          <p:cNvSpPr txBox="1"/>
          <p:nvPr/>
        </p:nvSpPr>
        <p:spPr>
          <a:xfrm>
            <a:off x="548640" y="621792"/>
            <a:ext cx="11064240" cy="640080"/>
          </a:xfrm>
          <a:prstGeom prst="rect">
            <a:avLst/>
          </a:prstGeom>
          <a:noFill/>
        </p:spPr>
        <p:txBody>
          <a:bodyPr wrap="square" lIns="0" rIns="0" tIns="0" bIns="0" anchor="t">
            <a:spAutoFit/>
          </a:bodyPr>
          <a:lstStyle/>
          <a:p>
            <a:pPr algn="l">
              <a:lnSpc>
                <a:spcPct val="105000"/>
              </a:lnSpc>
              <a:spcAft>
                <a:spcPts val="0"/>
              </a:spcAft>
            </a:pPr>
            <a:r>
              <a:rPr sz="2200" b="1" i="0">
                <a:solidFill>
                  <a:srgbClr val="14212B"/>
                </a:solidFill>
                <a:latin typeface="Helvetica Neue"/>
              </a:rPr>
              <a:t>“How much did we pay Blue Dart last month?”  —  six steps, every one checkable</a:t>
            </a:r>
          </a:p>
        </p:txBody>
      </p:sp>
      <p:sp>
        <p:nvSpPr>
          <p:cNvPr id="6" name="Rounded Rectangle 5"/>
          <p:cNvSpPr/>
          <p:nvPr/>
        </p:nvSpPr>
        <p:spPr>
          <a:xfrm>
            <a:off x="548640" y="1371600"/>
            <a:ext cx="1234440" cy="566928"/>
          </a:xfrm>
          <a:prstGeom prst="roundRect">
            <a:avLst>
              <a:gd name="adj" fmla="val 15000"/>
            </a:avLst>
          </a:prstGeom>
          <a:solidFill>
            <a:srgbClr val="FFFFFF"/>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1  PLAN</a:t>
            </a:r>
          </a:p>
        </p:txBody>
      </p:sp>
      <p:sp>
        <p:nvSpPr>
          <p:cNvPr id="7" name="TextBox 6"/>
          <p:cNvSpPr txBox="1"/>
          <p:nvPr/>
        </p:nvSpPr>
        <p:spPr>
          <a:xfrm>
            <a:off x="1920240" y="1399032"/>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question type: spend_by_counterparty · vendor phrase: “Blue Dart”. Rules settled it — no model call.</a:t>
            </a:r>
          </a:p>
        </p:txBody>
      </p:sp>
      <p:sp>
        <p:nvSpPr>
          <p:cNvPr id="8" name="Rounded Rectangle 7"/>
          <p:cNvSpPr/>
          <p:nvPr/>
        </p:nvSpPr>
        <p:spPr>
          <a:xfrm>
            <a:off x="548640" y="2029967"/>
            <a:ext cx="1234440" cy="566928"/>
          </a:xfrm>
          <a:prstGeom prst="roundRect">
            <a:avLst>
              <a:gd name="adj" fmla="val 15000"/>
            </a:avLst>
          </a:prstGeom>
          <a:solidFill>
            <a:srgbClr val="FFFFFF"/>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2  RESOLVE</a:t>
            </a:r>
          </a:p>
        </p:txBody>
      </p:sp>
      <p:sp>
        <p:nvSpPr>
          <p:cNvPr id="9" name="TextBox 8"/>
          <p:cNvSpPr txBox="1"/>
          <p:nvPr/>
        </p:nvSpPr>
        <p:spPr>
          <a:xfrm>
            <a:off x="1920240" y="2057399"/>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“last month” → 2026-08-01 … 08-31, counted from the data's last date, not the wall clock.</a:t>
            </a:r>
          </a:p>
          <a:p>
            <a:pPr algn="l">
              <a:lnSpc>
                <a:spcPct val="118000"/>
              </a:lnSpc>
              <a:spcAft>
                <a:spcPts val="0"/>
              </a:spcAft>
            </a:pPr>
            <a:r>
              <a:rPr sz="1000" b="0" i="0">
                <a:solidFill>
                  <a:srgbClr val="14212B"/>
                </a:solidFill>
                <a:latin typeface="Helvetica Neue"/>
              </a:rPr>
              <a:t>“Blue Dart” → exactly one vendor: CP00027.</a:t>
            </a:r>
          </a:p>
        </p:txBody>
      </p:sp>
      <p:sp>
        <p:nvSpPr>
          <p:cNvPr id="10" name="Rounded Rectangle 9"/>
          <p:cNvSpPr/>
          <p:nvPr/>
        </p:nvSpPr>
        <p:spPr>
          <a:xfrm>
            <a:off x="548640" y="2688335"/>
            <a:ext cx="1234440" cy="566928"/>
          </a:xfrm>
          <a:prstGeom prst="roundRect">
            <a:avLst>
              <a:gd name="adj" fmla="val 15000"/>
            </a:avLst>
          </a:prstGeom>
          <a:solidFill>
            <a:srgbClr val="FDF0DC"/>
          </a:solidFill>
          <a:ln w="15875">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3  GUARD</a:t>
            </a:r>
          </a:p>
        </p:txBody>
      </p:sp>
      <p:sp>
        <p:nvSpPr>
          <p:cNvPr id="11" name="TextBox 10"/>
          <p:cNvSpPr txBox="1"/>
          <p:nvPr/>
        </p:nvSpPr>
        <p:spPr>
          <a:xfrm>
            <a:off x="1920240" y="2715767"/>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in the data?  ✓     dates inside coverage?  ✓     one vendor, not several?  ✓     all slots filled?  ✓</a:t>
            </a:r>
          </a:p>
        </p:txBody>
      </p:sp>
      <p:sp>
        <p:nvSpPr>
          <p:cNvPr id="12" name="Rounded Rectangle 11"/>
          <p:cNvSpPr/>
          <p:nvPr/>
        </p:nvSpPr>
        <p:spPr>
          <a:xfrm>
            <a:off x="548640" y="3346703"/>
            <a:ext cx="1234440" cy="566928"/>
          </a:xfrm>
          <a:prstGeom prst="roundRect">
            <a:avLst>
              <a:gd name="adj" fmla="val 15000"/>
            </a:avLst>
          </a:prstGeom>
          <a:solidFill>
            <a:srgbClr val="D6EFEE"/>
          </a:solidFill>
          <a:ln w="15875">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4  COMPUTE</a:t>
            </a:r>
          </a:p>
        </p:txBody>
      </p:sp>
      <p:sp>
        <p:nvSpPr>
          <p:cNvPr id="13" name="TextBox 12"/>
          <p:cNvSpPr txBox="1"/>
          <p:nvPr/>
        </p:nvSpPr>
        <p:spPr>
          <a:xfrm>
            <a:off x="1920240" y="3374135"/>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one hand-written SQL, params [CP00027, 2026-08-01, 2026-08-31]</a:t>
            </a:r>
          </a:p>
          <a:p>
            <a:pPr algn="l">
              <a:lnSpc>
                <a:spcPct val="118000"/>
              </a:lnSpc>
              <a:spcAft>
                <a:spcPts val="0"/>
              </a:spcAft>
            </a:pPr>
            <a:r>
              <a:rPr sz="1000" b="0" i="0">
                <a:solidFill>
                  <a:srgbClr val="14212B"/>
                </a:solidFill>
                <a:latin typeface="Helvetica Neue"/>
              </a:rPr>
              <a:t>→  ev_1 = Rs 34,25,730.36      ev_2 = 59 payments</a:t>
            </a:r>
          </a:p>
        </p:txBody>
      </p:sp>
      <p:sp>
        <p:nvSpPr>
          <p:cNvPr id="14" name="Rounded Rectangle 13"/>
          <p:cNvSpPr/>
          <p:nvPr/>
        </p:nvSpPr>
        <p:spPr>
          <a:xfrm>
            <a:off x="548640" y="4005071"/>
            <a:ext cx="1234440" cy="566928"/>
          </a:xfrm>
          <a:prstGeom prst="roundRect">
            <a:avLst>
              <a:gd name="adj" fmla="val 15000"/>
            </a:avLst>
          </a:prstGeom>
          <a:solidFill>
            <a:srgbClr val="FFFFFF"/>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5  NARRATE</a:t>
            </a:r>
          </a:p>
        </p:txBody>
      </p:sp>
      <p:sp>
        <p:nvSpPr>
          <p:cNvPr id="15" name="TextBox 14"/>
          <p:cNvSpPr txBox="1"/>
          <p:nvPr/>
        </p:nvSpPr>
        <p:spPr>
          <a:xfrm>
            <a:off x="1920240" y="4032503"/>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model writes: “Paid to Blue Dart {{ev_1}} across {{ev_2}} payments.” — typing a digit is forbidden.</a:t>
            </a:r>
          </a:p>
        </p:txBody>
      </p:sp>
      <p:sp>
        <p:nvSpPr>
          <p:cNvPr id="16" name="Rounded Rectangle 15"/>
          <p:cNvSpPr/>
          <p:nvPr/>
        </p:nvSpPr>
        <p:spPr>
          <a:xfrm>
            <a:off x="548640" y="4663439"/>
            <a:ext cx="1234440" cy="566928"/>
          </a:xfrm>
          <a:prstGeom prst="roundRect">
            <a:avLst>
              <a:gd name="adj" fmla="val 15000"/>
            </a:avLst>
          </a:prstGeom>
          <a:solidFill>
            <a:srgbClr val="FDF0DC"/>
          </a:solidFill>
          <a:ln w="15875">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a:solidFill>
                  <a:srgbClr val="14212B"/>
                </a:solidFill>
                <a:latin typeface="Helvetica Neue"/>
              </a:rPr>
              <a:t>6  VALIDATE</a:t>
            </a:r>
          </a:p>
        </p:txBody>
      </p:sp>
      <p:sp>
        <p:nvSpPr>
          <p:cNvPr id="17" name="TextBox 16"/>
          <p:cNvSpPr txBox="1"/>
          <p:nvPr/>
        </p:nvSpPr>
        <p:spPr>
          <a:xfrm>
            <a:off x="1920240" y="4690871"/>
            <a:ext cx="4480560" cy="566928"/>
          </a:xfrm>
          <a:prstGeom prst="rect">
            <a:avLst/>
          </a:prstGeom>
          <a:noFill/>
        </p:spPr>
        <p:txBody>
          <a:bodyPr wrap="square" lIns="0" rIns="0" tIns="0" bIns="0" anchor="ctr">
            <a:spAutoFit/>
          </a:bodyPr>
          <a:lstStyle/>
          <a:p>
            <a:pPr algn="l">
              <a:lnSpc>
                <a:spcPct val="118000"/>
              </a:lnSpc>
              <a:spcAft>
                <a:spcPts val="0"/>
              </a:spcAft>
            </a:pPr>
            <a:r>
              <a:rPr sz="1000" b="0" i="0">
                <a:solidFill>
                  <a:srgbClr val="14212B"/>
                </a:solidFill>
                <a:latin typeface="Helvetica Neue"/>
              </a:rPr>
              <a:t>every number in the sentence traced to ev_1 / ev_2 / the period → ship it, with the ledger and a CSV.</a:t>
            </a:r>
          </a:p>
        </p:txBody>
      </p:sp>
      <p:sp>
        <p:nvSpPr>
          <p:cNvPr id="18" name="Rounded Rectangle 17"/>
          <p:cNvSpPr/>
          <p:nvPr/>
        </p:nvSpPr>
        <p:spPr>
          <a:xfrm>
            <a:off x="548640" y="5394960"/>
            <a:ext cx="5852160" cy="914400"/>
          </a:xfrm>
          <a:prstGeom prst="roundRect">
            <a:avLst>
              <a:gd name="adj" fmla="val 10000"/>
            </a:avLst>
          </a:prstGeom>
          <a:solidFill>
            <a:srgbClr val="FDF0DC"/>
          </a:solidFill>
          <a:ln w="12700">
            <a:solidFill>
              <a:srgbClr val="A869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468112"/>
            <a:ext cx="5532120" cy="777240"/>
          </a:xfrm>
          <a:prstGeom prst="rect">
            <a:avLst/>
          </a:prstGeom>
          <a:noFill/>
        </p:spPr>
        <p:txBody>
          <a:bodyPr wrap="square" lIns="0" rIns="0" tIns="0" bIns="0" anchor="ctr">
            <a:spAutoFit/>
          </a:bodyPr>
          <a:lstStyle/>
          <a:p>
            <a:pPr algn="l">
              <a:lnSpc>
                <a:spcPct val="120000"/>
              </a:lnSpc>
              <a:spcAft>
                <a:spcPts val="0"/>
              </a:spcAft>
            </a:pPr>
            <a:r>
              <a:rPr sz="1050" b="1" i="0">
                <a:solidFill>
                  <a:srgbClr val="8A5309"/>
                </a:solidFill>
                <a:latin typeface="Helvetica Neue"/>
              </a:rPr>
              <a:t>Why the load-time work mattered: </a:t>
            </a:r>
            <a:r>
              <a:rPr sz="1050" b="0" i="0">
                <a:solidFill>
                  <a:srgbClr val="14212B"/>
                </a:solidFill>
                <a:latin typeface="Helvetica Neue"/>
              </a:rPr>
              <a:t>those 59 payments arrived in 6 formats under 3 spellings. A plain text search for “Blue Dart” misses BLUEDART EXPRESS — 16 payments, Rs 6,39,895, 19% of the answer — silently.</a:t>
            </a:r>
          </a:p>
        </p:txBody>
      </p:sp>
      <p:pic>
        <p:nvPicPr>
          <p:cNvPr id="20" name="Picture 19" descr="ui_answer.png"/>
          <p:cNvPicPr>
            <a:picLocks noChangeAspect="1"/>
          </p:cNvPicPr>
          <p:nvPr/>
        </p:nvPicPr>
        <p:blipFill>
          <a:blip r:embed="rId2"/>
          <a:stretch>
            <a:fillRect/>
          </a:stretch>
        </p:blipFill>
        <p:spPr>
          <a:xfrm>
            <a:off x="6675120" y="1371600"/>
            <a:ext cx="5396972" cy="4937760"/>
          </a:xfrm>
          <a:prstGeom prst="rect">
            <a:avLst/>
          </a:prstGeom>
        </p:spPr>
      </p:pic>
      <p:sp>
        <p:nvSpPr>
          <p:cNvPr id="21" name="TextBox 20"/>
          <p:cNvSpPr txBox="1"/>
          <p:nvPr/>
        </p:nvSpPr>
        <p:spPr>
          <a:xfrm>
            <a:off x="6675120" y="6355080"/>
            <a:ext cx="5120640" cy="182880"/>
          </a:xfrm>
          <a:prstGeom prst="rect">
            <a:avLst/>
          </a:prstGeom>
          <a:noFill/>
        </p:spPr>
        <p:txBody>
          <a:bodyPr wrap="square" lIns="0" rIns="0" tIns="0" bIns="0" anchor="t">
            <a:spAutoFit/>
          </a:bodyPr>
          <a:lstStyle/>
          <a:p>
            <a:pPr algn="l">
              <a:lnSpc>
                <a:spcPct val="112000"/>
              </a:lnSpc>
              <a:spcAft>
                <a:spcPts val="0"/>
              </a:spcAft>
            </a:pPr>
            <a:r>
              <a:rPr sz="800" b="0" i="1">
                <a:solidFill>
                  <a:srgbClr val="5B6875"/>
                </a:solidFill>
                <a:latin typeface="Helvetica Neue"/>
              </a:rPr>
              <a:t>live UI: headline figure · caveat · breakdown rows · rail · reconciliation · 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7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G  U  A  R  D  R  A  I  L  S     ·     A  M  B  I  G  U  I  T  Y</a:t>
            </a:r>
          </a:p>
        </p:txBody>
      </p:sp>
      <p:sp>
        <p:nvSpPr>
          <p:cNvPr id="5" name="TextBox 4"/>
          <p:cNvSpPr txBox="1"/>
          <p:nvPr/>
        </p:nvSpPr>
        <p:spPr>
          <a:xfrm>
            <a:off x="548640" y="621792"/>
            <a:ext cx="11064240" cy="64008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A naive vendor filter is wrong by 6.3×, with full confidence.</a:t>
            </a:r>
          </a:p>
        </p:txBody>
      </p:sp>
      <p:sp>
        <p:nvSpPr>
          <p:cNvPr id="6" name="Rounded Rectangle 5"/>
          <p:cNvSpPr/>
          <p:nvPr/>
        </p:nvSpPr>
        <p:spPr>
          <a:xfrm>
            <a:off x="548640" y="1417320"/>
            <a:ext cx="5486400" cy="1691640"/>
          </a:xfrm>
          <a:prstGeom prst="roundRect">
            <a:avLst>
              <a:gd name="adj" fmla="val 8000"/>
            </a:avLst>
          </a:prstGeom>
          <a:solidFill>
            <a:srgbClr val="FBE4E7"/>
          </a:solidFill>
          <a:ln w="19050">
            <a:solidFill>
              <a:srgbClr val="B328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36192"/>
            <a:ext cx="51206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B3283C"/>
                </a:solidFill>
                <a:latin typeface="Menlo"/>
              </a:rPr>
              <a:t>WHERE description LIKE '%SELECT%'</a:t>
            </a:r>
          </a:p>
        </p:txBody>
      </p:sp>
      <p:sp>
        <p:nvSpPr>
          <p:cNvPr id="8" name="TextBox 7"/>
          <p:cNvSpPr txBox="1"/>
          <p:nvPr/>
        </p:nvSpPr>
        <p:spPr>
          <a:xfrm>
            <a:off x="777240" y="1828800"/>
            <a:ext cx="5120640" cy="685800"/>
          </a:xfrm>
          <a:prstGeom prst="rect">
            <a:avLst/>
          </a:prstGeom>
          <a:noFill/>
        </p:spPr>
        <p:txBody>
          <a:bodyPr wrap="square" lIns="0" rIns="0" tIns="0" bIns="0" anchor="t">
            <a:spAutoFit/>
          </a:bodyPr>
          <a:lstStyle/>
          <a:p>
            <a:pPr algn="l">
              <a:lnSpc>
                <a:spcPct val="112000"/>
              </a:lnSpc>
              <a:spcAft>
                <a:spcPts val="0"/>
              </a:spcAft>
            </a:pPr>
            <a:r>
              <a:rPr sz="3800" b="1" i="0">
                <a:solidFill>
                  <a:srgbClr val="B3283C"/>
                </a:solidFill>
                <a:latin typeface="Helvetica Neue"/>
              </a:rPr>
              <a:t>Rs 139 crore</a:t>
            </a:r>
          </a:p>
        </p:txBody>
      </p:sp>
      <p:sp>
        <p:nvSpPr>
          <p:cNvPr id="9" name="TextBox 8"/>
          <p:cNvSpPr txBox="1"/>
          <p:nvPr/>
        </p:nvSpPr>
        <p:spPr>
          <a:xfrm>
            <a:off x="777240" y="2542032"/>
            <a:ext cx="5120640" cy="457200"/>
          </a:xfrm>
          <a:prstGeom prst="rect">
            <a:avLst/>
          </a:prstGeom>
          <a:noFill/>
        </p:spPr>
        <p:txBody>
          <a:bodyPr wrap="square" lIns="0" rIns="0" tIns="0" bIns="0" anchor="t">
            <a:spAutoFit/>
          </a:bodyPr>
          <a:lstStyle/>
          <a:p>
            <a:pPr algn="l">
              <a:lnSpc>
                <a:spcPct val="112000"/>
              </a:lnSpc>
              <a:spcAft>
                <a:spcPts val="0"/>
              </a:spcAft>
            </a:pPr>
            <a:r>
              <a:rPr sz="1200" b="0" i="0">
                <a:solidFill>
                  <a:srgbClr val="14212B"/>
                </a:solidFill>
                <a:latin typeface="Helvetica Neue"/>
              </a:rPr>
              <a:t>7,854 rows  ·  sweeps in 59 different businesses</a:t>
            </a:r>
          </a:p>
        </p:txBody>
      </p:sp>
      <p:sp>
        <p:nvSpPr>
          <p:cNvPr id="10" name="Rounded Rectangle 9"/>
          <p:cNvSpPr/>
          <p:nvPr/>
        </p:nvSpPr>
        <p:spPr>
          <a:xfrm>
            <a:off x="548640" y="3246120"/>
            <a:ext cx="5486400" cy="1691640"/>
          </a:xfrm>
          <a:prstGeom prst="roundRect">
            <a:avLst>
              <a:gd name="adj" fmla="val 8000"/>
            </a:avLst>
          </a:prstGeom>
          <a:solidFill>
            <a:srgbClr val="E3F5EA"/>
          </a:solidFill>
          <a:ln w="19050">
            <a:solidFill>
              <a:srgbClr val="137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64992"/>
            <a:ext cx="5120640" cy="274320"/>
          </a:xfrm>
          <a:prstGeom prst="rect">
            <a:avLst/>
          </a:prstGeom>
          <a:noFill/>
        </p:spPr>
        <p:txBody>
          <a:bodyPr wrap="square" lIns="0" rIns="0" tIns="0" bIns="0" anchor="t">
            <a:spAutoFit/>
          </a:bodyPr>
          <a:lstStyle/>
          <a:p>
            <a:pPr algn="l">
              <a:lnSpc>
                <a:spcPct val="112000"/>
              </a:lnSpc>
              <a:spcAft>
                <a:spcPts val="0"/>
              </a:spcAft>
            </a:pPr>
            <a:r>
              <a:rPr sz="1100" b="1" i="0">
                <a:solidFill>
                  <a:srgbClr val="137A43"/>
                </a:solidFill>
                <a:latin typeface="Menlo"/>
              </a:rPr>
              <a:t>Selection Mobile Shop, by canonical id</a:t>
            </a:r>
          </a:p>
        </p:txBody>
      </p:sp>
      <p:sp>
        <p:nvSpPr>
          <p:cNvPr id="12" name="TextBox 11"/>
          <p:cNvSpPr txBox="1"/>
          <p:nvPr/>
        </p:nvSpPr>
        <p:spPr>
          <a:xfrm>
            <a:off x="777240" y="3657600"/>
            <a:ext cx="5120640" cy="685800"/>
          </a:xfrm>
          <a:prstGeom prst="rect">
            <a:avLst/>
          </a:prstGeom>
          <a:noFill/>
        </p:spPr>
        <p:txBody>
          <a:bodyPr wrap="square" lIns="0" rIns="0" tIns="0" bIns="0" anchor="t">
            <a:spAutoFit/>
          </a:bodyPr>
          <a:lstStyle/>
          <a:p>
            <a:pPr algn="l">
              <a:lnSpc>
                <a:spcPct val="112000"/>
              </a:lnSpc>
              <a:spcAft>
                <a:spcPts val="0"/>
              </a:spcAft>
            </a:pPr>
            <a:r>
              <a:rPr sz="3800" b="1" i="0">
                <a:solidFill>
                  <a:srgbClr val="137A43"/>
                </a:solidFill>
                <a:latin typeface="Helvetica Neue"/>
              </a:rPr>
              <a:t>Rs 22 crore</a:t>
            </a:r>
          </a:p>
        </p:txBody>
      </p:sp>
      <p:sp>
        <p:nvSpPr>
          <p:cNvPr id="13" name="TextBox 12"/>
          <p:cNvSpPr txBox="1"/>
          <p:nvPr/>
        </p:nvSpPr>
        <p:spPr>
          <a:xfrm>
            <a:off x="777240" y="4370832"/>
            <a:ext cx="5120640" cy="457200"/>
          </a:xfrm>
          <a:prstGeom prst="rect">
            <a:avLst/>
          </a:prstGeom>
          <a:noFill/>
        </p:spPr>
        <p:txBody>
          <a:bodyPr wrap="square" lIns="0" rIns="0" tIns="0" bIns="0" anchor="t">
            <a:spAutoFit/>
          </a:bodyPr>
          <a:lstStyle/>
          <a:p>
            <a:pPr algn="l">
              <a:lnSpc>
                <a:spcPct val="112000"/>
              </a:lnSpc>
              <a:spcAft>
                <a:spcPts val="0"/>
              </a:spcAft>
            </a:pPr>
            <a:r>
              <a:rPr sz="1200" b="0" i="0">
                <a:solidFill>
                  <a:srgbClr val="14212B"/>
                </a:solidFill>
                <a:latin typeface="Helvetica Neue"/>
              </a:rPr>
              <a:t>790 rows  ·  the right answer</a:t>
            </a:r>
          </a:p>
        </p:txBody>
      </p:sp>
      <p:sp>
        <p:nvSpPr>
          <p:cNvPr id="14" name="TextBox 13"/>
          <p:cNvSpPr txBox="1"/>
          <p:nvPr/>
        </p:nvSpPr>
        <p:spPr>
          <a:xfrm>
            <a:off x="548640" y="5120640"/>
            <a:ext cx="5486400" cy="1188720"/>
          </a:xfrm>
          <a:prstGeom prst="rect">
            <a:avLst/>
          </a:prstGeom>
          <a:noFill/>
        </p:spPr>
        <p:txBody>
          <a:bodyPr wrap="square" lIns="0" rIns="0" tIns="0" bIns="0" anchor="t">
            <a:spAutoFit/>
          </a:bodyPr>
          <a:lstStyle/>
          <a:p>
            <a:pPr algn="l">
              <a:lnSpc>
                <a:spcPct val="125000"/>
              </a:lnSpc>
              <a:spcAft>
                <a:spcPts val="0"/>
              </a:spcAft>
            </a:pPr>
            <a:r>
              <a:rPr sz="1100" b="0" i="0">
                <a:solidFill>
                  <a:srgbClr val="14212B"/>
                </a:solidFill>
                <a:latin typeface="Helvetica Neue"/>
              </a:rPr>
              <a:t>8 companies have SELECT in their name. A shopping mall called Select City sits in the location suffix of payments to 51 more — Blue Dart, Infosys, TCS… The parser splits the location off before matching, and never uses substring matching.</a:t>
            </a:r>
          </a:p>
        </p:txBody>
      </p:sp>
      <p:pic>
        <p:nvPicPr>
          <p:cNvPr id="15" name="Picture 14" descr="clarify.png"/>
          <p:cNvPicPr>
            <a:picLocks noChangeAspect="1"/>
          </p:cNvPicPr>
          <p:nvPr/>
        </p:nvPicPr>
        <p:blipFill>
          <a:blip r:embed="rId2"/>
          <a:stretch>
            <a:fillRect/>
          </a:stretch>
        </p:blipFill>
        <p:spPr>
          <a:xfrm>
            <a:off x="6400800" y="1417320"/>
            <a:ext cx="5257800" cy="1762502"/>
          </a:xfrm>
          <a:prstGeom prst="rect">
            <a:avLst/>
          </a:prstGeom>
        </p:spPr>
      </p:pic>
      <p:sp>
        <p:nvSpPr>
          <p:cNvPr id="16" name="TextBox 15"/>
          <p:cNvSpPr txBox="1"/>
          <p:nvPr/>
        </p:nvSpPr>
        <p:spPr>
          <a:xfrm>
            <a:off x="6400800" y="3291840"/>
            <a:ext cx="5257800" cy="685800"/>
          </a:xfrm>
          <a:prstGeom prst="rect">
            <a:avLst/>
          </a:prstGeom>
          <a:noFill/>
        </p:spPr>
        <p:txBody>
          <a:bodyPr wrap="square" lIns="0" rIns="0" tIns="0" bIns="0" anchor="t">
            <a:spAutoFit/>
          </a:bodyPr>
          <a:lstStyle/>
          <a:p>
            <a:pPr algn="l">
              <a:lnSpc>
                <a:spcPct val="120000"/>
              </a:lnSpc>
              <a:spcAft>
                <a:spcPts val="0"/>
              </a:spcAft>
            </a:pPr>
            <a:r>
              <a:rPr sz="1150" b="1" i="0">
                <a:solidFill>
                  <a:srgbClr val="14212B"/>
                </a:solidFill>
                <a:latin typeface="Helvetica Neue"/>
              </a:rPr>
              <a:t>“How much did we spend on Selection?”  </a:t>
            </a:r>
            <a:r>
              <a:rPr sz="1150" b="0" i="0">
                <a:solidFill>
                  <a:srgbClr val="14212B"/>
                </a:solidFill>
                <a:latin typeface="Helvetica Neue"/>
              </a:rPr>
              <a:t>→ it lists all five matches and asks which one. 26 ms, 0 model calls.</a:t>
            </a:r>
          </a:p>
        </p:txBody>
      </p:sp>
      <p:sp>
        <p:nvSpPr>
          <p:cNvPr id="17" name="Rectangle 16"/>
          <p:cNvSpPr/>
          <p:nvPr/>
        </p:nvSpPr>
        <p:spPr>
          <a:xfrm>
            <a:off x="6400800" y="4215383"/>
            <a:ext cx="82296" cy="82296"/>
          </a:xfrm>
          <a:prstGeom prst="rect">
            <a:avLst/>
          </a:prstGeom>
          <a:solidFill>
            <a:srgbClr val="A8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160520"/>
            <a:ext cx="5029200" cy="502920"/>
          </a:xfrm>
          <a:prstGeom prst="rect">
            <a:avLst/>
          </a:prstGeom>
          <a:noFill/>
        </p:spPr>
        <p:txBody>
          <a:bodyPr wrap="square" lIns="0" rIns="0" tIns="0" bIns="0" anchor="t">
            <a:spAutoFit/>
          </a:bodyPr>
          <a:lstStyle/>
          <a:p>
            <a:pPr algn="l">
              <a:lnSpc>
                <a:spcPct val="115000"/>
              </a:lnSpc>
              <a:spcAft>
                <a:spcPts val="0"/>
              </a:spcAft>
            </a:pPr>
            <a:r>
              <a:rPr sz="1050" b="1" i="0">
                <a:solidFill>
                  <a:srgbClr val="8A5309"/>
                </a:solidFill>
                <a:latin typeface="Helvetica Neue"/>
              </a:rPr>
              <a:t>Ambiguous  </a:t>
            </a:r>
            <a:r>
              <a:rPr sz="1050" b="0" i="0">
                <a:solidFill>
                  <a:srgbClr val="14212B"/>
                </a:solidFill>
                <a:latin typeface="Helvetica Neue"/>
              </a:rPr>
              <a:t>list every match and ask</a:t>
            </a:r>
          </a:p>
        </p:txBody>
      </p:sp>
      <p:sp>
        <p:nvSpPr>
          <p:cNvPr id="19" name="Rectangle 18"/>
          <p:cNvSpPr/>
          <p:nvPr/>
        </p:nvSpPr>
        <p:spPr>
          <a:xfrm>
            <a:off x="6400800" y="4745736"/>
            <a:ext cx="82296" cy="82296"/>
          </a:xfrm>
          <a:prstGeom prst="rect">
            <a:avLst/>
          </a:prstGeom>
          <a:solidFill>
            <a:srgbClr val="A8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690872"/>
            <a:ext cx="5029200" cy="502920"/>
          </a:xfrm>
          <a:prstGeom prst="rect">
            <a:avLst/>
          </a:prstGeom>
          <a:noFill/>
        </p:spPr>
        <p:txBody>
          <a:bodyPr wrap="square" lIns="0" rIns="0" tIns="0" bIns="0" anchor="t">
            <a:spAutoFit/>
          </a:bodyPr>
          <a:lstStyle/>
          <a:p>
            <a:pPr algn="l">
              <a:lnSpc>
                <a:spcPct val="115000"/>
              </a:lnSpc>
              <a:spcAft>
                <a:spcPts val="0"/>
              </a:spcAft>
            </a:pPr>
            <a:r>
              <a:rPr sz="1050" b="1" i="0">
                <a:solidFill>
                  <a:srgbClr val="8A5309"/>
                </a:solidFill>
                <a:latin typeface="Helvetica Neue"/>
              </a:rPr>
              <a:t>Absent  </a:t>
            </a:r>
            <a:r>
              <a:rPr sz="1050" b="0" i="0">
                <a:solidFill>
                  <a:srgbClr val="14212B"/>
                </a:solidFill>
                <a:latin typeface="Helvetica Neue"/>
              </a:rPr>
              <a:t>“no counterparty matching X appears in the data”</a:t>
            </a:r>
          </a:p>
        </p:txBody>
      </p:sp>
      <p:sp>
        <p:nvSpPr>
          <p:cNvPr id="21" name="Rectangle 20"/>
          <p:cNvSpPr/>
          <p:nvPr/>
        </p:nvSpPr>
        <p:spPr>
          <a:xfrm>
            <a:off x="6400800" y="5276088"/>
            <a:ext cx="82296" cy="82296"/>
          </a:xfrm>
          <a:prstGeom prst="rect">
            <a:avLst/>
          </a:prstGeom>
          <a:solidFill>
            <a:srgbClr val="A8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221224"/>
            <a:ext cx="5029200" cy="502920"/>
          </a:xfrm>
          <a:prstGeom prst="rect">
            <a:avLst/>
          </a:prstGeom>
          <a:noFill/>
        </p:spPr>
        <p:txBody>
          <a:bodyPr wrap="square" lIns="0" rIns="0" tIns="0" bIns="0" anchor="t">
            <a:spAutoFit/>
          </a:bodyPr>
          <a:lstStyle/>
          <a:p>
            <a:pPr algn="l">
              <a:lnSpc>
                <a:spcPct val="115000"/>
              </a:lnSpc>
              <a:spcAft>
                <a:spcPts val="0"/>
              </a:spcAft>
            </a:pPr>
            <a:r>
              <a:rPr sz="1050" b="1" i="0">
                <a:solidFill>
                  <a:srgbClr val="8A5309"/>
                </a:solidFill>
                <a:latin typeface="Helvetica Neue"/>
              </a:rPr>
              <a:t>Not in the data  </a:t>
            </a:r>
            <a:r>
              <a:rPr sz="1050" b="0" i="0">
                <a:solidFill>
                  <a:srgbClr val="14212B"/>
                </a:solidFill>
                <a:latin typeface="Helvetica Neue"/>
              </a:rPr>
              <a:t>tax breakdowns, invoices, forecasts, budgets → refuse, and say why</a:t>
            </a:r>
          </a:p>
        </p:txBody>
      </p:sp>
      <p:sp>
        <p:nvSpPr>
          <p:cNvPr id="23" name="Rectangle 22"/>
          <p:cNvSpPr/>
          <p:nvPr/>
        </p:nvSpPr>
        <p:spPr>
          <a:xfrm>
            <a:off x="6400800" y="5806439"/>
            <a:ext cx="82296" cy="82296"/>
          </a:xfrm>
          <a:prstGeom prst="rect">
            <a:avLst/>
          </a:prstGeom>
          <a:solidFill>
            <a:srgbClr val="A8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5751575"/>
            <a:ext cx="5029200" cy="502920"/>
          </a:xfrm>
          <a:prstGeom prst="rect">
            <a:avLst/>
          </a:prstGeom>
          <a:noFill/>
        </p:spPr>
        <p:txBody>
          <a:bodyPr wrap="square" lIns="0" rIns="0" tIns="0" bIns="0" anchor="t">
            <a:spAutoFit/>
          </a:bodyPr>
          <a:lstStyle/>
          <a:p>
            <a:pPr algn="l">
              <a:lnSpc>
                <a:spcPct val="115000"/>
              </a:lnSpc>
              <a:spcAft>
                <a:spcPts val="0"/>
              </a:spcAft>
            </a:pPr>
            <a:r>
              <a:rPr sz="1050" b="1" i="0">
                <a:solidFill>
                  <a:srgbClr val="8A5309"/>
                </a:solidFill>
                <a:latin typeface="Helvetica Neue"/>
              </a:rPr>
              <a:t>Outside the window  </a:t>
            </a:r>
            <a:r>
              <a:rPr sz="1050" b="0" i="0">
                <a:solidFill>
                  <a:srgbClr val="14212B"/>
                </a:solidFill>
                <a:latin typeface="Helvetica Neue"/>
              </a:rPr>
              <a:t>“no data for Nov 2024 — this dataset covers 2025-01-01 to 2026-09-05”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8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G  U  A  R  D  R  A  I  L  S     ·     H  A  L  L  U  C  I  N  A  T  I  O  N</a:t>
            </a:r>
          </a:p>
        </p:txBody>
      </p:sp>
      <p:sp>
        <p:nvSpPr>
          <p:cNvPr id="5" name="TextBox 4"/>
          <p:cNvSpPr txBox="1"/>
          <p:nvPr/>
        </p:nvSpPr>
        <p:spPr>
          <a:xfrm>
            <a:off x="548640" y="621792"/>
            <a:ext cx="11064240" cy="64008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Fabrication is structurally impossible, not merely unlikely.</a:t>
            </a:r>
          </a:p>
        </p:txBody>
      </p:sp>
      <p:sp>
        <p:nvSpPr>
          <p:cNvPr id="6" name="Rounded Rectangle 5"/>
          <p:cNvSpPr/>
          <p:nvPr/>
        </p:nvSpPr>
        <p:spPr>
          <a:xfrm>
            <a:off x="548640" y="1417320"/>
            <a:ext cx="457200" cy="457200"/>
          </a:xfrm>
          <a:prstGeom prst="roundRect">
            <a:avLst>
              <a:gd name="adj" fmla="val 50000"/>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a:solidFill>
                  <a:srgbClr val="FFFFFF"/>
                </a:solidFill>
                <a:latin typeface="Helvetica Neue"/>
              </a:rPr>
              <a:t>1</a:t>
            </a:r>
          </a:p>
        </p:txBody>
      </p:sp>
      <p:sp>
        <p:nvSpPr>
          <p:cNvPr id="7" name="TextBox 6"/>
          <p:cNvSpPr txBox="1"/>
          <p:nvPr/>
        </p:nvSpPr>
        <p:spPr>
          <a:xfrm>
            <a:off x="1188720" y="1399032"/>
            <a:ext cx="4846320" cy="320040"/>
          </a:xfrm>
          <a:prstGeom prst="rect">
            <a:avLst/>
          </a:prstGeom>
          <a:noFill/>
        </p:spPr>
        <p:txBody>
          <a:bodyPr wrap="square" lIns="0" rIns="0" tIns="0" bIns="0" anchor="t">
            <a:spAutoFit/>
          </a:bodyPr>
          <a:lstStyle/>
          <a:p>
            <a:pPr algn="l">
              <a:lnSpc>
                <a:spcPct val="112000"/>
              </a:lnSpc>
              <a:spcAft>
                <a:spcPts val="0"/>
              </a:spcAft>
            </a:pPr>
            <a:r>
              <a:rPr sz="1300" b="1" i="0">
                <a:solidFill>
                  <a:srgbClr val="14212B"/>
                </a:solidFill>
                <a:latin typeface="Helvetica Neue"/>
              </a:rPr>
              <a:t>The model may only write placeholders.</a:t>
            </a:r>
          </a:p>
        </p:txBody>
      </p:sp>
      <p:sp>
        <p:nvSpPr>
          <p:cNvPr id="8" name="TextBox 7"/>
          <p:cNvSpPr txBox="1"/>
          <p:nvPr/>
        </p:nvSpPr>
        <p:spPr>
          <a:xfrm>
            <a:off x="1188720" y="1746504"/>
            <a:ext cx="4846320" cy="822960"/>
          </a:xfrm>
          <a:prstGeom prst="rect">
            <a:avLst/>
          </a:prstGeom>
          <a:noFill/>
        </p:spPr>
        <p:txBody>
          <a:bodyPr wrap="square" lIns="0" rIns="0" tIns="0" bIns="0" anchor="t">
            <a:spAutoFit/>
          </a:bodyPr>
          <a:lstStyle/>
          <a:p>
            <a:pPr algn="l">
              <a:lnSpc>
                <a:spcPct val="120000"/>
              </a:lnSpc>
              <a:spcAft>
                <a:spcPts val="0"/>
              </a:spcAft>
            </a:pPr>
            <a:r>
              <a:rPr sz="1050" b="0" i="0">
                <a:solidFill>
                  <a:srgbClr val="14212B"/>
                </a:solidFill>
                <a:latin typeface="Helvetica Neue"/>
              </a:rPr>
              <a:t>“Paid to Blue Dart {{ev_1}} across {{ev_2}} payments.”  Typing a digit — a total, a count, a percentage, a rounded figure — is forbidden.</a:t>
            </a:r>
          </a:p>
        </p:txBody>
      </p:sp>
      <p:sp>
        <p:nvSpPr>
          <p:cNvPr id="9" name="Rounded Rectangle 8"/>
          <p:cNvSpPr/>
          <p:nvPr/>
        </p:nvSpPr>
        <p:spPr>
          <a:xfrm>
            <a:off x="548640" y="2743200"/>
            <a:ext cx="457200" cy="457200"/>
          </a:xfrm>
          <a:prstGeom prst="roundRect">
            <a:avLst>
              <a:gd name="adj" fmla="val 50000"/>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a:solidFill>
                  <a:srgbClr val="FFFFFF"/>
                </a:solidFill>
                <a:latin typeface="Helvetica Neue"/>
              </a:rPr>
              <a:t>2</a:t>
            </a:r>
          </a:p>
        </p:txBody>
      </p:sp>
      <p:sp>
        <p:nvSpPr>
          <p:cNvPr id="10" name="TextBox 9"/>
          <p:cNvSpPr txBox="1"/>
          <p:nvPr/>
        </p:nvSpPr>
        <p:spPr>
          <a:xfrm>
            <a:off x="1188720" y="2724912"/>
            <a:ext cx="4846320" cy="320040"/>
          </a:xfrm>
          <a:prstGeom prst="rect">
            <a:avLst/>
          </a:prstGeom>
          <a:noFill/>
        </p:spPr>
        <p:txBody>
          <a:bodyPr wrap="square" lIns="0" rIns="0" tIns="0" bIns="0" anchor="t">
            <a:spAutoFit/>
          </a:bodyPr>
          <a:lstStyle/>
          <a:p>
            <a:pPr algn="l">
              <a:lnSpc>
                <a:spcPct val="112000"/>
              </a:lnSpc>
              <a:spcAft>
                <a:spcPts val="0"/>
              </a:spcAft>
            </a:pPr>
            <a:r>
              <a:rPr sz="1300" b="1" i="0">
                <a:solidFill>
                  <a:srgbClr val="14212B"/>
                </a:solidFill>
                <a:latin typeface="Helvetica Neue"/>
              </a:rPr>
              <a:t>The engine fills the placeholders from SQL results.</a:t>
            </a:r>
          </a:p>
        </p:txBody>
      </p:sp>
      <p:sp>
        <p:nvSpPr>
          <p:cNvPr id="11" name="TextBox 10"/>
          <p:cNvSpPr txBox="1"/>
          <p:nvPr/>
        </p:nvSpPr>
        <p:spPr>
          <a:xfrm>
            <a:off x="1188720" y="3072384"/>
            <a:ext cx="4846320" cy="822960"/>
          </a:xfrm>
          <a:prstGeom prst="rect">
            <a:avLst/>
          </a:prstGeom>
          <a:noFill/>
        </p:spPr>
        <p:txBody>
          <a:bodyPr wrap="square" lIns="0" rIns="0" tIns="0" bIns="0" anchor="t">
            <a:spAutoFit/>
          </a:bodyPr>
          <a:lstStyle/>
          <a:p>
            <a:pPr algn="l">
              <a:lnSpc>
                <a:spcPct val="120000"/>
              </a:lnSpc>
              <a:spcAft>
                <a:spcPts val="0"/>
              </a:spcAft>
            </a:pPr>
            <a:r>
              <a:rPr sz="1050" b="0" i="0">
                <a:solidFill>
                  <a:srgbClr val="14212B"/>
                </a:solidFill>
                <a:latin typeface="Menlo"/>
              </a:rPr>
              <a:t>{{ev_1}} → Rs 34,25,730.36      {{ev_2}} → 59</a:t>
            </a:r>
          </a:p>
        </p:txBody>
      </p:sp>
      <p:sp>
        <p:nvSpPr>
          <p:cNvPr id="12" name="Rounded Rectangle 11"/>
          <p:cNvSpPr/>
          <p:nvPr/>
        </p:nvSpPr>
        <p:spPr>
          <a:xfrm>
            <a:off x="548640" y="4069080"/>
            <a:ext cx="457200" cy="457200"/>
          </a:xfrm>
          <a:prstGeom prst="roundRect">
            <a:avLst>
              <a:gd name="adj" fmla="val 50000"/>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a:solidFill>
                  <a:srgbClr val="FFFFFF"/>
                </a:solidFill>
                <a:latin typeface="Helvetica Neue"/>
              </a:rPr>
              <a:t>3</a:t>
            </a:r>
          </a:p>
        </p:txBody>
      </p:sp>
      <p:sp>
        <p:nvSpPr>
          <p:cNvPr id="13" name="TextBox 12"/>
          <p:cNvSpPr txBox="1"/>
          <p:nvPr/>
        </p:nvSpPr>
        <p:spPr>
          <a:xfrm>
            <a:off x="1188720" y="4050792"/>
            <a:ext cx="4846320" cy="320040"/>
          </a:xfrm>
          <a:prstGeom prst="rect">
            <a:avLst/>
          </a:prstGeom>
          <a:noFill/>
        </p:spPr>
        <p:txBody>
          <a:bodyPr wrap="square" lIns="0" rIns="0" tIns="0" bIns="0" anchor="t">
            <a:spAutoFit/>
          </a:bodyPr>
          <a:lstStyle/>
          <a:p>
            <a:pPr algn="l">
              <a:lnSpc>
                <a:spcPct val="112000"/>
              </a:lnSpc>
              <a:spcAft>
                <a:spcPts val="0"/>
              </a:spcAft>
            </a:pPr>
            <a:r>
              <a:rPr sz="1300" b="1" i="0">
                <a:solidFill>
                  <a:srgbClr val="14212B"/>
                </a:solidFill>
                <a:latin typeface="Helvetica Neue"/>
              </a:rPr>
              <a:t>A validator scans every number in the finished sentence.</a:t>
            </a:r>
          </a:p>
        </p:txBody>
      </p:sp>
      <p:sp>
        <p:nvSpPr>
          <p:cNvPr id="14" name="TextBox 13"/>
          <p:cNvSpPr txBox="1"/>
          <p:nvPr/>
        </p:nvSpPr>
        <p:spPr>
          <a:xfrm>
            <a:off x="1188720" y="4398264"/>
            <a:ext cx="4846320" cy="822960"/>
          </a:xfrm>
          <a:prstGeom prst="rect">
            <a:avLst/>
          </a:prstGeom>
          <a:noFill/>
        </p:spPr>
        <p:txBody>
          <a:bodyPr wrap="square" lIns="0" rIns="0" tIns="0" bIns="0" anchor="t">
            <a:spAutoFit/>
          </a:bodyPr>
          <a:lstStyle/>
          <a:p>
            <a:pPr algn="l">
              <a:lnSpc>
                <a:spcPct val="120000"/>
              </a:lnSpc>
              <a:spcAft>
                <a:spcPts val="0"/>
              </a:spcAft>
            </a:pPr>
            <a:r>
              <a:rPr sz="1050" b="0" i="0">
                <a:solidFill>
                  <a:srgbClr val="14212B"/>
                </a:solidFill>
                <a:latin typeface="Helvetica Neue"/>
              </a:rPr>
              <a:t>Any digit no query produced → the draft is rejected, retried once, then replaced by a deterministic template built from the same evidence.</a:t>
            </a:r>
          </a:p>
        </p:txBody>
      </p:sp>
      <p:sp>
        <p:nvSpPr>
          <p:cNvPr id="15" name="Rounded Rectangle 14"/>
          <p:cNvSpPr/>
          <p:nvPr/>
        </p:nvSpPr>
        <p:spPr>
          <a:xfrm>
            <a:off x="548640" y="5440680"/>
            <a:ext cx="5486400" cy="868680"/>
          </a:xfrm>
          <a:prstGeom prst="roundRect">
            <a:avLst>
              <a:gd name="adj" fmla="val 10000"/>
            </a:avLst>
          </a:prstGeom>
          <a:solidFill>
            <a:srgbClr val="EDF7F6"/>
          </a:solidFill>
          <a:ln w="127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13832"/>
            <a:ext cx="5120640" cy="731520"/>
          </a:xfrm>
          <a:prstGeom prst="rect">
            <a:avLst/>
          </a:prstGeom>
          <a:noFill/>
        </p:spPr>
        <p:txBody>
          <a:bodyPr wrap="square" lIns="0" rIns="0" tIns="0" bIns="0" anchor="ctr">
            <a:spAutoFit/>
          </a:bodyPr>
          <a:lstStyle/>
          <a:p>
            <a:pPr algn="l">
              <a:lnSpc>
                <a:spcPct val="120000"/>
              </a:lnSpc>
              <a:spcAft>
                <a:spcPts val="0"/>
              </a:spcAft>
            </a:pPr>
            <a:r>
              <a:rPr sz="1100" b="1" i="0">
                <a:solidFill>
                  <a:srgbClr val="0A6E78"/>
                </a:solidFill>
                <a:latin typeface="Helvetica Neue"/>
              </a:rPr>
              <a:t>A prompt rule is a request. A validator is enforcement. </a:t>
            </a:r>
            <a:r>
              <a:rPr sz="1100" b="0" i="0">
                <a:solidFill>
                  <a:srgbClr val="14212B"/>
                </a:solidFill>
                <a:latin typeface="Helvetica Neue"/>
              </a:rPr>
              <a:t>The model cannot write a number, and the engine checks anyway.</a:t>
            </a:r>
          </a:p>
        </p:txBody>
      </p:sp>
      <p:pic>
        <p:nvPicPr>
          <p:cNvPr id="17" name="Picture 16" descr="fabrication.png"/>
          <p:cNvPicPr>
            <a:picLocks noChangeAspect="1"/>
          </p:cNvPicPr>
          <p:nvPr/>
        </p:nvPicPr>
        <p:blipFill>
          <a:blip r:embed="rId2"/>
          <a:stretch>
            <a:fillRect/>
          </a:stretch>
        </p:blipFill>
        <p:spPr>
          <a:xfrm>
            <a:off x="6355080" y="1417320"/>
            <a:ext cx="5303520" cy="2382089"/>
          </a:xfrm>
          <a:prstGeom prst="rect">
            <a:avLst/>
          </a:prstGeom>
        </p:spPr>
      </p:pic>
      <p:sp>
        <p:nvSpPr>
          <p:cNvPr id="18" name="TextBox 17"/>
          <p:cNvSpPr txBox="1"/>
          <p:nvPr/>
        </p:nvSpPr>
        <p:spPr>
          <a:xfrm>
            <a:off x="6355080" y="3931920"/>
            <a:ext cx="5303520" cy="1371600"/>
          </a:xfrm>
          <a:prstGeom prst="rect">
            <a:avLst/>
          </a:prstGeom>
          <a:noFill/>
        </p:spPr>
        <p:txBody>
          <a:bodyPr wrap="square" lIns="0" rIns="0" tIns="0" bIns="0" anchor="t">
            <a:spAutoFit/>
          </a:bodyPr>
          <a:lstStyle/>
          <a:p>
            <a:pPr algn="l">
              <a:lnSpc>
                <a:spcPct val="122000"/>
              </a:lnSpc>
              <a:spcAft>
                <a:spcPts val="0"/>
              </a:spcAft>
            </a:pPr>
            <a:r>
              <a:rPr sz="1100" b="1" i="0">
                <a:solidFill>
                  <a:srgbClr val="14212B"/>
                </a:solidFill>
                <a:latin typeface="Helvetica Neue"/>
              </a:rPr>
              <a:t>The red button, live. </a:t>
            </a:r>
            <a:r>
              <a:rPr sz="1100" b="0" i="0">
                <a:solidFill>
                  <a:srgbClr val="14212B"/>
                </a:solidFill>
                <a:latin typeface="Helvetica Neue"/>
              </a:rPr>
              <a:t>A doctored draft — “Confidence 99.97%, roughly Rs 12,40,000 pending” — goes through the same validator that gates every reply. It names the unsourced tokens, 1240000 and 99.97, and discards the draft. Then shows the grounded answer.</a:t>
            </a:r>
          </a:p>
        </p:txBody>
      </p:sp>
      <p:sp>
        <p:nvSpPr>
          <p:cNvPr id="19" name="TextBox 18"/>
          <p:cNvSpPr txBox="1"/>
          <p:nvPr/>
        </p:nvSpPr>
        <p:spPr>
          <a:xfrm>
            <a:off x="6355080" y="5440680"/>
            <a:ext cx="5303520" cy="548640"/>
          </a:xfrm>
          <a:prstGeom prst="rect">
            <a:avLst/>
          </a:prstGeom>
          <a:noFill/>
        </p:spPr>
        <p:txBody>
          <a:bodyPr wrap="square" lIns="0" rIns="0" tIns="0" bIns="0" anchor="t">
            <a:spAutoFit/>
          </a:bodyPr>
          <a:lstStyle/>
          <a:p>
            <a:pPr algn="l">
              <a:lnSpc>
                <a:spcPct val="112000"/>
              </a:lnSpc>
              <a:spcAft>
                <a:spcPts val="0"/>
              </a:spcAft>
            </a:pPr>
            <a:r>
              <a:rPr sz="1050" b="1" i="0">
                <a:solidFill>
                  <a:srgbClr val="0A6E78"/>
                </a:solidFill>
                <a:latin typeface="Menlo"/>
              </a:rPr>
              <a:t>POST /demo/fabrication</a:t>
            </a:r>
            <a:r>
              <a:rPr sz="1050" b="0" i="0">
                <a:solidFill>
                  <a:srgbClr val="14212B"/>
                </a:solidFill>
                <a:latin typeface="Helvetica Neue"/>
              </a:rPr>
              <a:t>  —  runs offline with no model call, so it cannot flake on stage.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9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T  H  E     B  R  I  E  F  ,     L  I  N  E     B  Y     L  I  N  E</a:t>
            </a:r>
          </a:p>
        </p:txBody>
      </p:sp>
      <p:sp>
        <p:nvSpPr>
          <p:cNvPr id="5" name="TextBox 4"/>
          <p:cNvSpPr txBox="1"/>
          <p:nvPr/>
        </p:nvSpPr>
        <p:spPr>
          <a:xfrm>
            <a:off x="548640" y="621792"/>
            <a:ext cx="11064240" cy="54864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Every requirement, and the evidence.</a:t>
            </a:r>
          </a:p>
        </p:txBody>
      </p:sp>
      <p:graphicFrame>
        <p:nvGraphicFramePr>
          <p:cNvPr id="6" name="Table 5"/>
          <p:cNvGraphicFramePr>
            <a:graphicFrameLocks noGrp="1"/>
          </p:cNvGraphicFramePr>
          <p:nvPr/>
        </p:nvGraphicFramePr>
        <p:xfrm>
          <a:off x="548640" y="1234440"/>
          <a:ext cx="11064240" cy="4041648"/>
        </p:xfrm>
        <a:graphic>
          <a:graphicData uri="http://schemas.openxmlformats.org/drawingml/2006/table">
            <a:tbl>
              <a:tblPr firstRow="1" bandRow="1">
                <a:tableStyleId>{5C22544A-7EE6-4342-B048-85BDC9FD1C3A}</a:tableStyleId>
              </a:tblPr>
              <a:tblGrid>
                <a:gridCol w="2468880"/>
                <a:gridCol w="822960"/>
                <a:gridCol w="7772400"/>
              </a:tblGrid>
              <a:tr h="310896">
                <a:tc>
                  <a:txBody>
                    <a:bodyPr/>
                    <a:lstStyle/>
                    <a:p>
                      <a:pPr algn="l"/>
                      <a:r>
                        <a:rPr sz="900" b="1">
                          <a:solidFill>
                            <a:srgbClr val="FFFFFF"/>
                          </a:solidFill>
                          <a:latin typeface="Helvetica Neue"/>
                        </a:rPr>
                        <a:t>Requirement</a:t>
                      </a:r>
                    </a:p>
                  </a:txBody>
                  <a:tcPr marL="73152" marR="73152" marT="27432" marB="27432" anchor="ctr">
                    <a:solidFill>
                      <a:srgbClr val="0B2440"/>
                    </a:solidFill>
                  </a:tcPr>
                </a:tc>
                <a:tc>
                  <a:txBody>
                    <a:bodyPr/>
                    <a:lstStyle/>
                    <a:p>
                      <a:pPr algn="l"/>
                      <a:r>
                        <a:rPr sz="900" b="1">
                          <a:solidFill>
                            <a:srgbClr val="FFFFFF"/>
                          </a:solidFill>
                          <a:latin typeface="Helvetica Neue"/>
                        </a:rPr>
                        <a:t>Tier</a:t>
                      </a:r>
                    </a:p>
                  </a:txBody>
                  <a:tcPr marL="73152" marR="73152" marT="27432" marB="27432" anchor="ctr">
                    <a:solidFill>
                      <a:srgbClr val="0B2440"/>
                    </a:solidFill>
                  </a:tcPr>
                </a:tc>
                <a:tc>
                  <a:txBody>
                    <a:bodyPr/>
                    <a:lstStyle/>
                    <a:p>
                      <a:pPr algn="l"/>
                      <a:r>
                        <a:rPr sz="900" b="1">
                          <a:solidFill>
                            <a:srgbClr val="FFFFFF"/>
                          </a:solidFill>
                          <a:latin typeface="Helvetica Neue"/>
                        </a:rPr>
                        <a:t>How finassist meets it — measured</a:t>
                      </a:r>
                    </a:p>
                  </a:txBody>
                  <a:tcPr marL="73152" marR="73152" marT="27432" marB="27432" anchor="ctr">
                    <a:solidFill>
                      <a:srgbClr val="0B2440"/>
                    </a:solidFill>
                  </a:tcPr>
                </a:tc>
              </a:tr>
              <a:tr h="310896">
                <a:tc>
                  <a:txBody>
                    <a:bodyPr/>
                    <a:lstStyle/>
                    <a:p>
                      <a:pPr algn="l"/>
                      <a:r>
                        <a:rPr sz="900" b="1">
                          <a:solidFill>
                            <a:srgbClr val="14212B"/>
                          </a:solidFill>
                          <a:latin typeface="Helvetica Neue"/>
                        </a:rPr>
                        <a:t>Natural-language questions</a:t>
                      </a:r>
                    </a:p>
                  </a:txBody>
                  <a:tcPr marL="73152" marR="73152" marT="27432" marB="27432" anchor="ctr">
                    <a:solidFill>
                      <a:srgbClr val="FFFFFF"/>
                    </a:solidFill>
                  </a:tcPr>
                </a:tc>
                <a:tc>
                  <a:txBody>
                    <a:bodyPr/>
                    <a:lstStyle/>
                    <a:p>
                      <a:pPr algn="ctr"/>
                      <a:r>
                        <a:rPr sz="850" b="1">
                          <a:solidFill>
                            <a:srgbClr val="0A6E78"/>
                          </a:solidFill>
                          <a:latin typeface="Helvetica Neue"/>
                        </a:rPr>
                        <a:t>Must</a:t>
                      </a:r>
                    </a:p>
                  </a:txBody>
                  <a:tcPr marL="73152" marR="73152" marT="27432" marB="27432" anchor="ctr">
                    <a:solidFill>
                      <a:srgbClr val="FFFFFF"/>
                    </a:solidFill>
                  </a:tcPr>
                </a:tc>
                <a:tc>
                  <a:txBody>
                    <a:bodyPr/>
                    <a:lstStyle/>
                    <a:p>
                      <a:pPr algn="l"/>
                      <a:r>
                        <a:rPr sz="900" b="0">
                          <a:solidFill>
                            <a:srgbClr val="14212B"/>
                          </a:solidFill>
                          <a:latin typeface="Helvetica Neue"/>
                        </a:rPr>
                        <a:t>13 question types. Rules first, LLM classifier for free phrasing; follow-ups understood.</a:t>
                      </a:r>
                    </a:p>
                  </a:txBody>
                  <a:tcPr marL="73152" marR="73152" marT="27432" marB="27432" anchor="ctr">
                    <a:solidFill>
                      <a:srgbClr val="FFFFFF"/>
                    </a:solidFill>
                  </a:tcPr>
                </a:tc>
              </a:tr>
              <a:tr h="310896">
                <a:tc>
                  <a:txBody>
                    <a:bodyPr/>
                    <a:lstStyle/>
                    <a:p>
                      <a:pPr algn="l"/>
                      <a:r>
                        <a:rPr sz="900" b="1">
                          <a:solidFill>
                            <a:srgbClr val="14212B"/>
                          </a:solidFill>
                          <a:latin typeface="Helvetica Neue"/>
                        </a:rPr>
                        <a:t>Grounded retrieval</a:t>
                      </a:r>
                    </a:p>
                  </a:txBody>
                  <a:tcPr marL="73152" marR="73152" marT="27432" marB="27432" anchor="ctr">
                    <a:solidFill>
                      <a:srgbClr val="F3F5F7"/>
                    </a:solidFill>
                  </a:tcPr>
                </a:tc>
                <a:tc>
                  <a:txBody>
                    <a:bodyPr/>
                    <a:lstStyle/>
                    <a:p>
                      <a:pPr algn="ctr"/>
                      <a:r>
                        <a:rPr sz="850" b="1">
                          <a:solidFill>
                            <a:srgbClr val="0A6E78"/>
                          </a:solidFill>
                          <a:latin typeface="Helvetica Neue"/>
                        </a:rPr>
                        <a:t>Must</a:t>
                      </a:r>
                    </a:p>
                  </a:txBody>
                  <a:tcPr marL="73152" marR="73152" marT="27432" marB="27432" anchor="ctr">
                    <a:solidFill>
                      <a:srgbClr val="F3F5F7"/>
                    </a:solidFill>
                  </a:tcPr>
                </a:tc>
                <a:tc>
                  <a:txBody>
                    <a:bodyPr/>
                    <a:lstStyle/>
                    <a:p>
                      <a:pPr algn="l"/>
                      <a:r>
                        <a:rPr sz="900" b="0">
                          <a:solidFill>
                            <a:srgbClr val="14212B"/>
                          </a:solidFill>
                          <a:latin typeface="Helvetica Neue"/>
                        </a:rPr>
                        <a:t>Every figure comes from a parameterised SQL query over the dataset. No generated SQL, ever.</a:t>
                      </a:r>
                    </a:p>
                  </a:txBody>
                  <a:tcPr marL="73152" marR="73152" marT="27432" marB="27432" anchor="ctr">
                    <a:solidFill>
                      <a:srgbClr val="F3F5F7"/>
                    </a:solidFill>
                  </a:tcPr>
                </a:tc>
              </a:tr>
              <a:tr h="310896">
                <a:tc>
                  <a:txBody>
                    <a:bodyPr/>
                    <a:lstStyle/>
                    <a:p>
                      <a:pPr algn="l"/>
                      <a:r>
                        <a:rPr sz="900" b="1">
                          <a:solidFill>
                            <a:srgbClr val="14212B"/>
                          </a:solidFill>
                          <a:latin typeface="Helvetica Neue"/>
                        </a:rPr>
                        <a:t>Accurate computation</a:t>
                      </a:r>
                    </a:p>
                  </a:txBody>
                  <a:tcPr marL="73152" marR="73152" marT="27432" marB="27432" anchor="ctr">
                    <a:solidFill>
                      <a:srgbClr val="FFFFFF"/>
                    </a:solidFill>
                  </a:tcPr>
                </a:tc>
                <a:tc>
                  <a:txBody>
                    <a:bodyPr/>
                    <a:lstStyle/>
                    <a:p>
                      <a:pPr algn="ctr"/>
                      <a:r>
                        <a:rPr sz="850" b="1">
                          <a:solidFill>
                            <a:srgbClr val="0A6E78"/>
                          </a:solidFill>
                          <a:latin typeface="Helvetica Neue"/>
                        </a:rPr>
                        <a:t>Must</a:t>
                      </a:r>
                    </a:p>
                  </a:txBody>
                  <a:tcPr marL="73152" marR="73152" marT="27432" marB="27432" anchor="ctr">
                    <a:solidFill>
                      <a:srgbClr val="FFFFFF"/>
                    </a:solidFill>
                  </a:tcPr>
                </a:tc>
                <a:tc>
                  <a:txBody>
                    <a:bodyPr/>
                    <a:lstStyle/>
                    <a:p>
                      <a:pPr algn="l"/>
                      <a:r>
                        <a:rPr sz="900" b="0">
                          <a:solidFill>
                            <a:srgbClr val="14212B"/>
                          </a:solidFill>
                          <a:latin typeface="Helvetica Neue"/>
                        </a:rPr>
                        <a:t>Filter, group, aggregate in SQL; debit/credit split enforced. 20/20 on a sealed answer key.</a:t>
                      </a:r>
                    </a:p>
                  </a:txBody>
                  <a:tcPr marL="73152" marR="73152" marT="27432" marB="27432" anchor="ctr">
                    <a:solidFill>
                      <a:srgbClr val="FFFFFF"/>
                    </a:solidFill>
                  </a:tcPr>
                </a:tc>
              </a:tr>
              <a:tr h="310896">
                <a:tc>
                  <a:txBody>
                    <a:bodyPr/>
                    <a:lstStyle/>
                    <a:p>
                      <a:pPr algn="l"/>
                      <a:r>
                        <a:rPr sz="900" b="1">
                          <a:solidFill>
                            <a:srgbClr val="14212B"/>
                          </a:solidFill>
                          <a:latin typeface="Helvetica Neue"/>
                        </a:rPr>
                        <a:t>Verifiable answers</a:t>
                      </a:r>
                    </a:p>
                  </a:txBody>
                  <a:tcPr marL="73152" marR="73152" marT="27432" marB="27432" anchor="ctr">
                    <a:solidFill>
                      <a:srgbClr val="F3F5F7"/>
                    </a:solidFill>
                  </a:tcPr>
                </a:tc>
                <a:tc>
                  <a:txBody>
                    <a:bodyPr/>
                    <a:lstStyle/>
                    <a:p>
                      <a:pPr algn="ctr"/>
                      <a:r>
                        <a:rPr sz="850" b="1">
                          <a:solidFill>
                            <a:srgbClr val="0A6E78"/>
                          </a:solidFill>
                          <a:latin typeface="Helvetica Neue"/>
                        </a:rPr>
                        <a:t>Must</a:t>
                      </a:r>
                    </a:p>
                  </a:txBody>
                  <a:tcPr marL="73152" marR="73152" marT="27432" marB="27432" anchor="ctr">
                    <a:solidFill>
                      <a:srgbClr val="F3F5F7"/>
                    </a:solidFill>
                  </a:tcPr>
                </a:tc>
                <a:tc>
                  <a:txBody>
                    <a:bodyPr/>
                    <a:lstStyle/>
                    <a:p>
                      <a:pPr algn="l"/>
                      <a:r>
                        <a:rPr sz="900" b="0">
                          <a:solidFill>
                            <a:srgbClr val="14212B"/>
                          </a:solidFill>
                          <a:latin typeface="Helvetica Neue"/>
                        </a:rPr>
                        <a:t>Breakdown rows + evidence ledger with every reply: value · SQL · params · row count.</a:t>
                      </a:r>
                    </a:p>
                  </a:txBody>
                  <a:tcPr marL="73152" marR="73152" marT="27432" marB="27432" anchor="ctr">
                    <a:solidFill>
                      <a:srgbClr val="F3F5F7"/>
                    </a:solidFill>
                  </a:tcPr>
                </a:tc>
              </a:tr>
              <a:tr h="310896">
                <a:tc>
                  <a:txBody>
                    <a:bodyPr/>
                    <a:lstStyle/>
                    <a:p>
                      <a:pPr algn="l"/>
                      <a:r>
                        <a:rPr sz="900" b="1">
                          <a:solidFill>
                            <a:srgbClr val="14212B"/>
                          </a:solidFill>
                          <a:latin typeface="Helvetica Neue"/>
                        </a:rPr>
                        <a:t>Hallucination guardrails</a:t>
                      </a:r>
                    </a:p>
                  </a:txBody>
                  <a:tcPr marL="73152" marR="73152" marT="27432" marB="27432" anchor="ctr">
                    <a:solidFill>
                      <a:srgbClr val="FFFFFF"/>
                    </a:solidFill>
                  </a:tcPr>
                </a:tc>
                <a:tc>
                  <a:txBody>
                    <a:bodyPr/>
                    <a:lstStyle/>
                    <a:p>
                      <a:pPr algn="ctr"/>
                      <a:r>
                        <a:rPr sz="850" b="1">
                          <a:solidFill>
                            <a:srgbClr val="0A6E78"/>
                          </a:solidFill>
                          <a:latin typeface="Helvetica Neue"/>
                        </a:rPr>
                        <a:t>Must</a:t>
                      </a:r>
                    </a:p>
                  </a:txBody>
                  <a:tcPr marL="73152" marR="73152" marT="27432" marB="27432" anchor="ctr">
                    <a:solidFill>
                      <a:srgbClr val="FFFFFF"/>
                    </a:solidFill>
                  </a:tcPr>
                </a:tc>
                <a:tc>
                  <a:txBody>
                    <a:bodyPr/>
                    <a:lstStyle/>
                    <a:p>
                      <a:pPr algn="l"/>
                      <a:r>
                        <a:rPr sz="900" b="0">
                          <a:solidFill>
                            <a:srgbClr val="14212B"/>
                          </a:solidFill>
                          <a:latin typeface="Helvetica Neue"/>
                        </a:rPr>
                        <a:t>5 checks before any number + placeholder-only narration + a numeric validator on the output.</a:t>
                      </a:r>
                    </a:p>
                  </a:txBody>
                  <a:tcPr marL="73152" marR="73152" marT="27432" marB="27432" anchor="ctr">
                    <a:solidFill>
                      <a:srgbClr val="FFFFFF"/>
                    </a:solidFill>
                  </a:tcPr>
                </a:tc>
              </a:tr>
              <a:tr h="310896">
                <a:tc>
                  <a:txBody>
                    <a:bodyPr/>
                    <a:lstStyle/>
                    <a:p>
                      <a:pPr algn="l"/>
                      <a:r>
                        <a:rPr sz="900" b="1">
                          <a:solidFill>
                            <a:srgbClr val="14212B"/>
                          </a:solidFill>
                          <a:latin typeface="Helvetica Neue"/>
                        </a:rPr>
                        <a:t>Lightweight model</a:t>
                      </a:r>
                    </a:p>
                  </a:txBody>
                  <a:tcPr marL="73152" marR="73152" marT="27432" marB="27432" anchor="ctr">
                    <a:solidFill>
                      <a:srgbClr val="F3F5F7"/>
                    </a:solidFill>
                  </a:tcPr>
                </a:tc>
                <a:tc>
                  <a:txBody>
                    <a:bodyPr/>
                    <a:lstStyle/>
                    <a:p>
                      <a:pPr algn="ctr"/>
                      <a:r>
                        <a:rPr sz="850" b="1">
                          <a:solidFill>
                            <a:srgbClr val="0A6E78"/>
                          </a:solidFill>
                          <a:latin typeface="Helvetica Neue"/>
                        </a:rPr>
                        <a:t>Must</a:t>
                      </a:r>
                    </a:p>
                  </a:txBody>
                  <a:tcPr marL="73152" marR="73152" marT="27432" marB="27432" anchor="ctr">
                    <a:solidFill>
                      <a:srgbClr val="F3F5F7"/>
                    </a:solidFill>
                  </a:tcPr>
                </a:tc>
                <a:tc>
                  <a:txBody>
                    <a:bodyPr/>
                    <a:lstStyle/>
                    <a:p>
                      <a:pPr algn="l"/>
                      <a:r>
                        <a:rPr sz="900" b="0">
                          <a:solidFill>
                            <a:srgbClr val="14212B"/>
                          </a:solidFill>
                          <a:latin typeface="Helvetica Neue"/>
                        </a:rPr>
                        <a:t>~500 output tokens per question. Sarvam today, any endpoint. Same 20/20 with the model off.</a:t>
                      </a:r>
                    </a:p>
                  </a:txBody>
                  <a:tcPr marL="73152" marR="73152" marT="27432" marB="27432" anchor="ctr">
                    <a:solidFill>
                      <a:srgbClr val="F3F5F7"/>
                    </a:solidFill>
                  </a:tcPr>
                </a:tc>
              </a:tr>
              <a:tr h="310896">
                <a:tc>
                  <a:txBody>
                    <a:bodyPr/>
                    <a:lstStyle/>
                    <a:p>
                      <a:pPr algn="l"/>
                      <a:r>
                        <a:rPr sz="900" b="1">
                          <a:solidFill>
                            <a:srgbClr val="14212B"/>
                          </a:solidFill>
                          <a:latin typeface="Helvetica Neue"/>
                        </a:rPr>
                        <a:t>Multi-turn conversation</a:t>
                      </a:r>
                    </a:p>
                  </a:txBody>
                  <a:tcPr marL="73152" marR="73152" marT="27432" marB="27432" anchor="ctr">
                    <a:solidFill>
                      <a:srgbClr val="FFFFFF"/>
                    </a:solidFill>
                  </a:tcPr>
                </a:tc>
                <a:tc>
                  <a:txBody>
                    <a:bodyPr/>
                    <a:lstStyle/>
                    <a:p>
                      <a:pPr algn="ctr"/>
                      <a:r>
                        <a:rPr sz="850" b="1">
                          <a:solidFill>
                            <a:srgbClr val="0A6E78"/>
                          </a:solidFill>
                          <a:latin typeface="Helvetica Neue"/>
                        </a:rPr>
                        <a:t>Must</a:t>
                      </a:r>
                    </a:p>
                  </a:txBody>
                  <a:tcPr marL="73152" marR="73152" marT="27432" marB="27432" anchor="ctr">
                    <a:solidFill>
                      <a:srgbClr val="FFFFFF"/>
                    </a:solidFill>
                  </a:tcPr>
                </a:tc>
                <a:tc>
                  <a:txBody>
                    <a:bodyPr/>
                    <a:lstStyle/>
                    <a:p>
                      <a:pPr algn="l"/>
                      <a:r>
                        <a:rPr sz="900" b="0">
                          <a:solidFill>
                            <a:srgbClr val="14212B"/>
                          </a:solidFill>
                          <a:latin typeface="Helvetica Neue"/>
                        </a:rPr>
                        <a:t>Session keeps last vendor, period, type. “Compare to the month before?” → +76.6% on Blue Dart.</a:t>
                      </a:r>
                    </a:p>
                  </a:txBody>
                  <a:tcPr marL="73152" marR="73152" marT="27432" marB="27432" anchor="ctr">
                    <a:solidFill>
                      <a:srgbClr val="FFFFFF"/>
                    </a:solidFill>
                  </a:tcPr>
                </a:tc>
              </a:tr>
              <a:tr h="310896">
                <a:tc>
                  <a:txBody>
                    <a:bodyPr/>
                    <a:lstStyle/>
                    <a:p>
                      <a:pPr algn="l"/>
                      <a:r>
                        <a:rPr sz="900" b="1">
                          <a:solidFill>
                            <a:srgbClr val="14212B"/>
                          </a:solidFill>
                          <a:latin typeface="Helvetica Neue"/>
                        </a:rPr>
                        <a:t>Explainability</a:t>
                      </a:r>
                    </a:p>
                  </a:txBody>
                  <a:tcPr marL="73152" marR="73152" marT="27432" marB="27432" anchor="ctr">
                    <a:solidFill>
                      <a:srgbClr val="F3F5F7"/>
                    </a:solidFill>
                  </a:tcPr>
                </a:tc>
                <a:tc>
                  <a:txBody>
                    <a:bodyPr/>
                    <a:lstStyle/>
                    <a:p>
                      <a:pPr algn="ctr"/>
                      <a:r>
                        <a:rPr sz="850" b="1">
                          <a:solidFill>
                            <a:srgbClr val="0A6E78"/>
                          </a:solidFill>
                          <a:latin typeface="Helvetica Neue"/>
                        </a:rPr>
                        <a:t>Must</a:t>
                      </a:r>
                    </a:p>
                  </a:txBody>
                  <a:tcPr marL="73152" marR="73152" marT="27432" marB="27432" anchor="ctr">
                    <a:solidFill>
                      <a:srgbClr val="F3F5F7"/>
                    </a:solidFill>
                  </a:tcPr>
                </a:tc>
                <a:tc>
                  <a:txBody>
                    <a:bodyPr/>
                    <a:lstStyle/>
                    <a:p>
                      <a:pPr algn="l"/>
                      <a:r>
                        <a:rPr sz="900" b="0">
                          <a:solidFill>
                            <a:srgbClr val="14212B"/>
                          </a:solidFill>
                          <a:latin typeface="Helvetica Neue"/>
                        </a:rPr>
                        <a:t>SQL and parameters shown for each number; the intent it chose; the rows it used.</a:t>
                      </a:r>
                    </a:p>
                  </a:txBody>
                  <a:tcPr marL="73152" marR="73152" marT="27432" marB="27432" anchor="ctr">
                    <a:solidFill>
                      <a:srgbClr val="F3F5F7"/>
                    </a:solidFill>
                  </a:tcPr>
                </a:tc>
              </a:tr>
              <a:tr h="310896">
                <a:tc>
                  <a:txBody>
                    <a:bodyPr/>
                    <a:lstStyle/>
                    <a:p>
                      <a:pPr algn="l"/>
                      <a:r>
                        <a:rPr sz="900" b="1">
                          <a:solidFill>
                            <a:srgbClr val="14212B"/>
                          </a:solidFill>
                          <a:latin typeface="Helvetica Neue"/>
                        </a:rPr>
                        <a:t>CSV export</a:t>
                      </a:r>
                    </a:p>
                  </a:txBody>
                  <a:tcPr marL="73152" marR="73152" marT="27432" marB="27432" anchor="ctr">
                    <a:solidFill>
                      <a:srgbClr val="FFFFFF"/>
                    </a:solidFill>
                  </a:tcPr>
                </a:tc>
                <a:tc>
                  <a:txBody>
                    <a:bodyPr/>
                    <a:lstStyle/>
                    <a:p>
                      <a:pPr algn="ctr"/>
                      <a:r>
                        <a:rPr sz="850" b="1">
                          <a:solidFill>
                            <a:srgbClr val="A8690A"/>
                          </a:solidFill>
                          <a:latin typeface="Helvetica Neue"/>
                        </a:rPr>
                        <a:t>Good</a:t>
                      </a:r>
                    </a:p>
                  </a:txBody>
                  <a:tcPr marL="73152" marR="73152" marT="27432" marB="27432" anchor="ctr">
                    <a:solidFill>
                      <a:srgbClr val="FFFFFF"/>
                    </a:solidFill>
                  </a:tcPr>
                </a:tc>
                <a:tc>
                  <a:txBody>
                    <a:bodyPr/>
                    <a:lstStyle/>
                    <a:p>
                      <a:pPr algn="l"/>
                      <a:r>
                        <a:rPr sz="900" b="0">
                          <a:solidFill>
                            <a:srgbClr val="14212B"/>
                          </a:solidFill>
                          <a:latin typeface="Helvetica Neue"/>
                        </a:rPr>
                        <a:t>GET /export.csv per turn — earlier turns' links keep working.</a:t>
                      </a:r>
                    </a:p>
                  </a:txBody>
                  <a:tcPr marL="73152" marR="73152" marT="27432" marB="27432" anchor="ctr">
                    <a:solidFill>
                      <a:srgbClr val="FFFFFF"/>
                    </a:solidFill>
                  </a:tcPr>
                </a:tc>
              </a:tr>
              <a:tr h="310896">
                <a:tc>
                  <a:txBody>
                    <a:bodyPr/>
                    <a:lstStyle/>
                    <a:p>
                      <a:pPr algn="l"/>
                      <a:r>
                        <a:rPr sz="900" b="1">
                          <a:solidFill>
                            <a:srgbClr val="14212B"/>
                          </a:solidFill>
                          <a:latin typeface="Helvetica Neue"/>
                        </a:rPr>
                        <a:t>Confidence signalling</a:t>
                      </a:r>
                    </a:p>
                  </a:txBody>
                  <a:tcPr marL="73152" marR="73152" marT="27432" marB="27432" anchor="ctr">
                    <a:solidFill>
                      <a:srgbClr val="F3F5F7"/>
                    </a:solidFill>
                  </a:tcPr>
                </a:tc>
                <a:tc>
                  <a:txBody>
                    <a:bodyPr/>
                    <a:lstStyle/>
                    <a:p>
                      <a:pPr algn="ctr"/>
                      <a:r>
                        <a:rPr sz="850" b="1">
                          <a:solidFill>
                            <a:srgbClr val="5B6875"/>
                          </a:solidFill>
                          <a:latin typeface="Helvetica Neue"/>
                        </a:rPr>
                        <a:t>Bonus</a:t>
                      </a:r>
                    </a:p>
                  </a:txBody>
                  <a:tcPr marL="73152" marR="73152" marT="27432" marB="27432" anchor="ctr">
                    <a:solidFill>
                      <a:srgbClr val="F3F5F7"/>
                    </a:solidFill>
                  </a:tcPr>
                </a:tc>
                <a:tc>
                  <a:txBody>
                    <a:bodyPr/>
                    <a:lstStyle/>
                    <a:p>
                      <a:pPr algn="l"/>
                      <a:r>
                        <a:rPr sz="900" b="0">
                          <a:solidFill>
                            <a:srgbClr val="14212B"/>
                          </a:solidFill>
                          <a:latin typeface="Helvetica Neue"/>
                        </a:rPr>
                        <a:t>Ambiguous name → asks (5 matches). Derived fields carry a caveat. Refusals say why.</a:t>
                      </a:r>
                    </a:p>
                  </a:txBody>
                  <a:tcPr marL="73152" marR="73152" marT="27432" marB="27432" anchor="ctr">
                    <a:solidFill>
                      <a:srgbClr val="F3F5F7"/>
                    </a:solidFill>
                  </a:tcPr>
                </a:tc>
              </a:tr>
              <a:tr h="310896">
                <a:tc>
                  <a:txBody>
                    <a:bodyPr/>
                    <a:lstStyle/>
                    <a:p>
                      <a:pPr algn="l"/>
                      <a:r>
                        <a:rPr sz="900" b="1">
                          <a:solidFill>
                            <a:srgbClr val="14212B"/>
                          </a:solidFill>
                          <a:latin typeface="Helvetica Neue"/>
                        </a:rPr>
                        <a:t>Model-choice note</a:t>
                      </a:r>
                    </a:p>
                  </a:txBody>
                  <a:tcPr marL="73152" marR="73152" marT="27432" marB="27432" anchor="ctr">
                    <a:solidFill>
                      <a:srgbClr val="FFFFFF"/>
                    </a:solidFill>
                  </a:tcPr>
                </a:tc>
                <a:tc>
                  <a:txBody>
                    <a:bodyPr/>
                    <a:lstStyle/>
                    <a:p>
                      <a:pPr algn="ctr"/>
                      <a:r>
                        <a:rPr sz="850" b="1">
                          <a:solidFill>
                            <a:srgbClr val="5B6875"/>
                          </a:solidFill>
                          <a:latin typeface="Helvetica Neue"/>
                        </a:rPr>
                        <a:t>Bonus</a:t>
                      </a:r>
                    </a:p>
                  </a:txBody>
                  <a:tcPr marL="73152" marR="73152" marT="27432" marB="27432" anchor="ctr">
                    <a:solidFill>
                      <a:srgbClr val="FFFFFF"/>
                    </a:solidFill>
                  </a:tcPr>
                </a:tc>
                <a:tc>
                  <a:txBody>
                    <a:bodyPr/>
                    <a:lstStyle/>
                    <a:p>
                      <a:pPr algn="l"/>
                      <a:r>
                        <a:rPr sz="900" b="0">
                          <a:solidFill>
                            <a:srgbClr val="14212B"/>
                          </a:solidFill>
                          <a:latin typeface="Helvetica Neue"/>
                        </a:rPr>
                        <a:t>Next slide: which model, why, and what accuracy looked like.</a:t>
                      </a:r>
                    </a:p>
                  </a:txBody>
                  <a:tcPr marL="73152" marR="73152" marT="27432" marB="27432" anchor="ctr">
                    <a:solidFill>
                      <a:srgbClr val="FFFFFF"/>
                    </a:solidFill>
                  </a:tcPr>
                </a:tc>
              </a:tr>
              <a:tr h="310896">
                <a:tc>
                  <a:txBody>
                    <a:bodyPr/>
                    <a:lstStyle/>
                    <a:p>
                      <a:pPr algn="l"/>
                      <a:r>
                        <a:rPr sz="900" b="1">
                          <a:solidFill>
                            <a:srgbClr val="14212B"/>
                          </a:solidFill>
                          <a:latin typeface="Helvetica Neue"/>
                        </a:rPr>
                        <a:t>Anomaly callouts</a:t>
                      </a:r>
                    </a:p>
                  </a:txBody>
                  <a:tcPr marL="73152" marR="73152" marT="27432" marB="27432" anchor="ctr">
                    <a:solidFill>
                      <a:srgbClr val="F3F5F7"/>
                    </a:solidFill>
                  </a:tcPr>
                </a:tc>
                <a:tc>
                  <a:txBody>
                    <a:bodyPr/>
                    <a:lstStyle/>
                    <a:p>
                      <a:pPr algn="ctr"/>
                      <a:r>
                        <a:rPr sz="850" b="1">
                          <a:solidFill>
                            <a:srgbClr val="5B6875"/>
                          </a:solidFill>
                          <a:latin typeface="Helvetica Neue"/>
                        </a:rPr>
                        <a:t>Bonus</a:t>
                      </a:r>
                    </a:p>
                  </a:txBody>
                  <a:tcPr marL="73152" marR="73152" marT="27432" marB="27432" anchor="ctr">
                    <a:solidFill>
                      <a:srgbClr val="F3F5F7"/>
                    </a:solidFill>
                  </a:tcPr>
                </a:tc>
                <a:tc>
                  <a:txBody>
                    <a:bodyPr/>
                    <a:lstStyle/>
                    <a:p>
                      <a:pPr algn="l"/>
                      <a:r>
                        <a:rPr sz="900" b="0">
                          <a:solidFill>
                            <a:srgbClr val="14212B"/>
                          </a:solidFill>
                          <a:latin typeface="Helvetica Neue"/>
                        </a:rPr>
                        <a:t>Per-vendor robust z-score on log(amount), |z| &gt; 4. RMZ Corp at 36× typical is flagged.</a:t>
                      </a:r>
                    </a:p>
                  </a:txBody>
                  <a:tcPr marL="73152" marR="73152" marT="27432" marB="27432" anchor="ctr">
                    <a:solidFill>
                      <a:srgbClr val="F3F5F7"/>
                    </a:solidFill>
                  </a:tcPr>
                </a:tc>
              </a:tr>
            </a:tbl>
          </a:graphicData>
        </a:graphic>
      </p:graphicFrame>
      <p:sp>
        <p:nvSpPr>
          <p:cNvPr id="7" name="TextBox 6"/>
          <p:cNvSpPr txBox="1"/>
          <p:nvPr/>
        </p:nvSpPr>
        <p:spPr>
          <a:xfrm>
            <a:off x="548640" y="5779008"/>
            <a:ext cx="11064240" cy="274320"/>
          </a:xfrm>
          <a:prstGeom prst="rect">
            <a:avLst/>
          </a:prstGeom>
          <a:noFill/>
        </p:spPr>
        <p:txBody>
          <a:bodyPr wrap="square" lIns="0" rIns="0" tIns="0" bIns="0" anchor="t">
            <a:spAutoFit/>
          </a:bodyPr>
          <a:lstStyle/>
          <a:p>
            <a:pPr algn="l">
              <a:lnSpc>
                <a:spcPct val="112000"/>
              </a:lnSpc>
              <a:spcAft>
                <a:spcPts val="0"/>
              </a:spcAft>
            </a:pPr>
            <a:r>
              <a:rPr sz="800" b="1" i="0">
                <a:solidFill>
                  <a:srgbClr val="5B6875"/>
                </a:solidFill>
                <a:latin typeface="Helvetica Neue"/>
              </a:rPr>
              <a:t>Evaluation weights from the brief</a:t>
            </a:r>
          </a:p>
        </p:txBody>
      </p:sp>
      <p:sp>
        <p:nvSpPr>
          <p:cNvPr id="8" name="TextBox 7"/>
          <p:cNvSpPr txBox="1"/>
          <p:nvPr/>
        </p:nvSpPr>
        <p:spPr>
          <a:xfrm>
            <a:off x="548640"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30</a:t>
            </a:r>
          </a:p>
        </p:txBody>
      </p:sp>
      <p:sp>
        <p:nvSpPr>
          <p:cNvPr id="9" name="TextBox 8"/>
          <p:cNvSpPr txBox="1"/>
          <p:nvPr/>
        </p:nvSpPr>
        <p:spPr>
          <a:xfrm>
            <a:off x="1051560"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Accuracy &amp; grounding</a:t>
            </a:r>
          </a:p>
        </p:txBody>
      </p:sp>
      <p:sp>
        <p:nvSpPr>
          <p:cNvPr id="10" name="TextBox 9"/>
          <p:cNvSpPr txBox="1"/>
          <p:nvPr/>
        </p:nvSpPr>
        <p:spPr>
          <a:xfrm>
            <a:off x="2130552"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20</a:t>
            </a:r>
          </a:p>
        </p:txBody>
      </p:sp>
      <p:sp>
        <p:nvSpPr>
          <p:cNvPr id="11" name="TextBox 10"/>
          <p:cNvSpPr txBox="1"/>
          <p:nvPr/>
        </p:nvSpPr>
        <p:spPr>
          <a:xfrm>
            <a:off x="2633472"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Model efficiency</a:t>
            </a:r>
          </a:p>
        </p:txBody>
      </p:sp>
      <p:sp>
        <p:nvSpPr>
          <p:cNvPr id="12" name="TextBox 11"/>
          <p:cNvSpPr txBox="1"/>
          <p:nvPr/>
        </p:nvSpPr>
        <p:spPr>
          <a:xfrm>
            <a:off x="3712463"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15</a:t>
            </a:r>
          </a:p>
        </p:txBody>
      </p:sp>
      <p:sp>
        <p:nvSpPr>
          <p:cNvPr id="13" name="TextBox 12"/>
          <p:cNvSpPr txBox="1"/>
          <p:nvPr/>
        </p:nvSpPr>
        <p:spPr>
          <a:xfrm>
            <a:off x="4215383"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NL understanding</a:t>
            </a:r>
          </a:p>
        </p:txBody>
      </p:sp>
      <p:sp>
        <p:nvSpPr>
          <p:cNvPr id="14" name="TextBox 13"/>
          <p:cNvSpPr txBox="1"/>
          <p:nvPr/>
        </p:nvSpPr>
        <p:spPr>
          <a:xfrm>
            <a:off x="5294375"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15</a:t>
            </a:r>
          </a:p>
        </p:txBody>
      </p:sp>
      <p:sp>
        <p:nvSpPr>
          <p:cNvPr id="15" name="TextBox 14"/>
          <p:cNvSpPr txBox="1"/>
          <p:nvPr/>
        </p:nvSpPr>
        <p:spPr>
          <a:xfrm>
            <a:off x="5797295"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Functionality</a:t>
            </a:r>
          </a:p>
        </p:txBody>
      </p:sp>
      <p:sp>
        <p:nvSpPr>
          <p:cNvPr id="16" name="TextBox 15"/>
          <p:cNvSpPr txBox="1"/>
          <p:nvPr/>
        </p:nvSpPr>
        <p:spPr>
          <a:xfrm>
            <a:off x="6876288"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10</a:t>
            </a:r>
          </a:p>
        </p:txBody>
      </p:sp>
      <p:sp>
        <p:nvSpPr>
          <p:cNvPr id="17" name="TextBox 16"/>
          <p:cNvSpPr txBox="1"/>
          <p:nvPr/>
        </p:nvSpPr>
        <p:spPr>
          <a:xfrm>
            <a:off x="7379208"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User experience</a:t>
            </a:r>
          </a:p>
        </p:txBody>
      </p:sp>
      <p:sp>
        <p:nvSpPr>
          <p:cNvPr id="18" name="TextBox 17"/>
          <p:cNvSpPr txBox="1"/>
          <p:nvPr/>
        </p:nvSpPr>
        <p:spPr>
          <a:xfrm>
            <a:off x="8458200"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5</a:t>
            </a:r>
          </a:p>
        </p:txBody>
      </p:sp>
      <p:sp>
        <p:nvSpPr>
          <p:cNvPr id="19" name="TextBox 18"/>
          <p:cNvSpPr txBox="1"/>
          <p:nvPr/>
        </p:nvSpPr>
        <p:spPr>
          <a:xfrm>
            <a:off x="8961120"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Presentation</a:t>
            </a:r>
          </a:p>
        </p:txBody>
      </p:sp>
      <p:sp>
        <p:nvSpPr>
          <p:cNvPr id="20" name="TextBox 19"/>
          <p:cNvSpPr txBox="1"/>
          <p:nvPr/>
        </p:nvSpPr>
        <p:spPr>
          <a:xfrm>
            <a:off x="10040111" y="5980176"/>
            <a:ext cx="502920" cy="365760"/>
          </a:xfrm>
          <a:prstGeom prst="rect">
            <a:avLst/>
          </a:prstGeom>
          <a:noFill/>
        </p:spPr>
        <p:txBody>
          <a:bodyPr wrap="square" lIns="0" rIns="0" tIns="0" bIns="0" anchor="t">
            <a:spAutoFit/>
          </a:bodyPr>
          <a:lstStyle/>
          <a:p>
            <a:pPr algn="l">
              <a:lnSpc>
                <a:spcPct val="112000"/>
              </a:lnSpc>
              <a:spcAft>
                <a:spcPts val="0"/>
              </a:spcAft>
            </a:pPr>
            <a:r>
              <a:rPr sz="1800" b="1" i="0">
                <a:solidFill>
                  <a:srgbClr val="0A6E78"/>
                </a:solidFill>
                <a:latin typeface="Helvetica Neue"/>
              </a:rPr>
              <a:t>5</a:t>
            </a:r>
          </a:p>
        </p:txBody>
      </p:sp>
      <p:sp>
        <p:nvSpPr>
          <p:cNvPr id="21" name="TextBox 20"/>
          <p:cNvSpPr txBox="1"/>
          <p:nvPr/>
        </p:nvSpPr>
        <p:spPr>
          <a:xfrm>
            <a:off x="10543032" y="6035040"/>
            <a:ext cx="1097280" cy="365760"/>
          </a:xfrm>
          <a:prstGeom prst="rect">
            <a:avLst/>
          </a:prstGeom>
          <a:noFill/>
        </p:spPr>
        <p:txBody>
          <a:bodyPr wrap="square" lIns="0" rIns="0" tIns="0" bIns="0" anchor="t">
            <a:spAutoFit/>
          </a:bodyPr>
          <a:lstStyle/>
          <a:p>
            <a:pPr algn="l">
              <a:lnSpc>
                <a:spcPct val="100000"/>
              </a:lnSpc>
              <a:spcAft>
                <a:spcPts val="0"/>
              </a:spcAft>
            </a:pPr>
            <a:r>
              <a:rPr sz="800" b="0" i="0">
                <a:solidFill>
                  <a:srgbClr val="5B6875"/>
                </a:solidFill>
                <a:latin typeface="Helvetica Neue"/>
              </a:rPr>
              <a:t>Business impact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10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M  O  D  E  L     C  H  O  I  C  E     ·     R  A  T  I  O  N  A  L  E</a:t>
            </a:r>
          </a:p>
        </p:txBody>
      </p:sp>
      <p:sp>
        <p:nvSpPr>
          <p:cNvPr id="5" name="TextBox 4"/>
          <p:cNvSpPr txBox="1"/>
          <p:nvPr/>
        </p:nvSpPr>
        <p:spPr>
          <a:xfrm>
            <a:off x="548640" y="621792"/>
            <a:ext cx="11064240" cy="64008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A small model, two small jobs, and a fence around the numbers.</a:t>
            </a:r>
          </a:p>
        </p:txBody>
      </p:sp>
      <p:sp>
        <p:nvSpPr>
          <p:cNvPr id="6" name="Rounded Rectangle 5"/>
          <p:cNvSpPr/>
          <p:nvPr/>
        </p:nvSpPr>
        <p:spPr>
          <a:xfrm>
            <a:off x="548640" y="1463040"/>
            <a:ext cx="3566160" cy="4160520"/>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3566160" cy="64008"/>
          </a:xfrm>
          <a:prstGeom prst="rect">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45920"/>
            <a:ext cx="3108960" cy="320040"/>
          </a:xfrm>
          <a:prstGeom prst="rect">
            <a:avLst/>
          </a:prstGeom>
          <a:noFill/>
        </p:spPr>
        <p:txBody>
          <a:bodyPr wrap="square" lIns="0" rIns="0" tIns="0" bIns="0" anchor="t">
            <a:spAutoFit/>
          </a:bodyPr>
          <a:lstStyle/>
          <a:p>
            <a:pPr algn="l">
              <a:lnSpc>
                <a:spcPct val="112000"/>
              </a:lnSpc>
              <a:spcAft>
                <a:spcPts val="0"/>
              </a:spcAft>
            </a:pPr>
            <a:r>
              <a:rPr sz="1300" b="1" i="0">
                <a:solidFill>
                  <a:srgbClr val="0A6E78"/>
                </a:solidFill>
                <a:latin typeface="Helvetica Neue"/>
              </a:rPr>
              <a:t>What the model does</a:t>
            </a:r>
          </a:p>
        </p:txBody>
      </p:sp>
      <p:sp>
        <p:nvSpPr>
          <p:cNvPr id="9" name="TextBox 8"/>
          <p:cNvSpPr txBox="1"/>
          <p:nvPr/>
        </p:nvSpPr>
        <p:spPr>
          <a:xfrm>
            <a:off x="777240" y="2103120"/>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Job 1 · understand</a:t>
            </a:r>
          </a:p>
        </p:txBody>
      </p:sp>
      <p:sp>
        <p:nvSpPr>
          <p:cNvPr id="10" name="TextBox 9"/>
          <p:cNvSpPr txBox="1"/>
          <p:nvPr/>
        </p:nvSpPr>
        <p:spPr>
          <a:xfrm>
            <a:off x="777240" y="2377439"/>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Map the question to one of 13 types and fill the blanks — vendor, period, category. JSON out, ~200 tokens, temperature 0. It selects a query; it never writes one.</a:t>
            </a:r>
          </a:p>
        </p:txBody>
      </p:sp>
      <p:sp>
        <p:nvSpPr>
          <p:cNvPr id="11" name="TextBox 10"/>
          <p:cNvSpPr txBox="1"/>
          <p:nvPr/>
        </p:nvSpPr>
        <p:spPr>
          <a:xfrm>
            <a:off x="777240" y="3273552"/>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Job 2 · narrate</a:t>
            </a:r>
          </a:p>
        </p:txBody>
      </p:sp>
      <p:sp>
        <p:nvSpPr>
          <p:cNvPr id="12" name="TextBox 11"/>
          <p:cNvSpPr txBox="1"/>
          <p:nvPr/>
        </p:nvSpPr>
        <p:spPr>
          <a:xfrm>
            <a:off x="777240" y="3547872"/>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Turn finished numbers into one sentence, using {{ev_N}} placeholders only, ~300 tokens.</a:t>
            </a:r>
          </a:p>
        </p:txBody>
      </p:sp>
      <p:sp>
        <p:nvSpPr>
          <p:cNvPr id="13" name="TextBox 12"/>
          <p:cNvSpPr txBox="1"/>
          <p:nvPr/>
        </p:nvSpPr>
        <p:spPr>
          <a:xfrm>
            <a:off x="777240" y="4443984"/>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Never</a:t>
            </a:r>
          </a:p>
        </p:txBody>
      </p:sp>
      <p:sp>
        <p:nvSpPr>
          <p:cNvPr id="14" name="TextBox 13"/>
          <p:cNvSpPr txBox="1"/>
          <p:nvPr/>
        </p:nvSpPr>
        <p:spPr>
          <a:xfrm>
            <a:off x="777240" y="4718304"/>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sees a row of data · writes SQL · types a digit.</a:t>
            </a:r>
          </a:p>
        </p:txBody>
      </p:sp>
      <p:sp>
        <p:nvSpPr>
          <p:cNvPr id="15" name="Rounded Rectangle 14"/>
          <p:cNvSpPr/>
          <p:nvPr/>
        </p:nvSpPr>
        <p:spPr>
          <a:xfrm>
            <a:off x="4297679" y="1463040"/>
            <a:ext cx="3566160" cy="4160520"/>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1463040"/>
            <a:ext cx="3566160" cy="64008"/>
          </a:xfrm>
          <a:prstGeom prst="rect">
            <a:avLst/>
          </a:prstGeom>
          <a:solidFill>
            <a:srgbClr val="0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1645920"/>
            <a:ext cx="3108960" cy="320040"/>
          </a:xfrm>
          <a:prstGeom prst="rect">
            <a:avLst/>
          </a:prstGeom>
          <a:noFill/>
        </p:spPr>
        <p:txBody>
          <a:bodyPr wrap="square" lIns="0" rIns="0" tIns="0" bIns="0" anchor="t">
            <a:spAutoFit/>
          </a:bodyPr>
          <a:lstStyle/>
          <a:p>
            <a:pPr algn="l">
              <a:lnSpc>
                <a:spcPct val="112000"/>
              </a:lnSpc>
              <a:spcAft>
                <a:spcPts val="0"/>
              </a:spcAft>
            </a:pPr>
            <a:r>
              <a:rPr sz="1300" b="1" i="0">
                <a:solidFill>
                  <a:srgbClr val="0B2440"/>
                </a:solidFill>
                <a:latin typeface="Helvetica Neue"/>
              </a:rPr>
              <a:t>Which model, and why</a:t>
            </a:r>
          </a:p>
        </p:txBody>
      </p:sp>
      <p:sp>
        <p:nvSpPr>
          <p:cNvPr id="18" name="TextBox 17"/>
          <p:cNvSpPr txBox="1"/>
          <p:nvPr/>
        </p:nvSpPr>
        <p:spPr>
          <a:xfrm>
            <a:off x="4526279" y="2103120"/>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Today</a:t>
            </a:r>
          </a:p>
        </p:txBody>
      </p:sp>
      <p:sp>
        <p:nvSpPr>
          <p:cNvPr id="19" name="TextBox 18"/>
          <p:cNvSpPr txBox="1"/>
          <p:nvPr/>
        </p:nvSpPr>
        <p:spPr>
          <a:xfrm>
            <a:off x="4526279" y="2377439"/>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Sarvam · sarvam-105b-conversations, via LLM_BASE_URL. Indian model, ~0.8 s, JSON mode.</a:t>
            </a:r>
          </a:p>
        </p:txBody>
      </p:sp>
      <p:sp>
        <p:nvSpPr>
          <p:cNvPr id="20" name="TextBox 19"/>
          <p:cNvSpPr txBox="1"/>
          <p:nvPr/>
        </p:nvSpPr>
        <p:spPr>
          <a:xfrm>
            <a:off x="4526279" y="3273552"/>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Default</a:t>
            </a:r>
          </a:p>
        </p:txBody>
      </p:sp>
      <p:sp>
        <p:nvSpPr>
          <p:cNvPr id="21" name="TextBox 20"/>
          <p:cNvSpPr txBox="1"/>
          <p:nvPr/>
        </p:nvSpPr>
        <p:spPr>
          <a:xfrm>
            <a:off x="4526279" y="3547872"/>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gpt-4o-mini. Any OpenAI-compatible or local endpoint drops in with one config line.</a:t>
            </a:r>
          </a:p>
        </p:txBody>
      </p:sp>
      <p:sp>
        <p:nvSpPr>
          <p:cNvPr id="22" name="TextBox 21"/>
          <p:cNvSpPr txBox="1"/>
          <p:nvPr/>
        </p:nvSpPr>
        <p:spPr>
          <a:xfrm>
            <a:off x="4526279" y="4443984"/>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Why small is enough</a:t>
            </a:r>
          </a:p>
        </p:txBody>
      </p:sp>
      <p:sp>
        <p:nvSpPr>
          <p:cNvPr id="23" name="TextBox 22"/>
          <p:cNvSpPr txBox="1"/>
          <p:nvPr/>
        </p:nvSpPr>
        <p:spPr>
          <a:xfrm>
            <a:off x="4526279" y="4718304"/>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Both jobs are classification and rewriting of text we hand it. There is no reasoning over numbers to get wrong.</a:t>
            </a:r>
          </a:p>
        </p:txBody>
      </p:sp>
      <p:sp>
        <p:nvSpPr>
          <p:cNvPr id="24" name="Rounded Rectangle 23"/>
          <p:cNvSpPr/>
          <p:nvPr/>
        </p:nvSpPr>
        <p:spPr>
          <a:xfrm>
            <a:off x="8046719" y="1463040"/>
            <a:ext cx="3566160" cy="4160520"/>
          </a:xfrm>
          <a:prstGeom prst="roundRect">
            <a:avLst>
              <a:gd name="adj" fmla="val 5000"/>
            </a:avLst>
          </a:prstGeom>
          <a:solidFill>
            <a:srgbClr val="F3F5F7"/>
          </a:solidFill>
          <a:ln w="12700">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19" y="1463040"/>
            <a:ext cx="3566160" cy="64008"/>
          </a:xfrm>
          <a:prstGeom prst="rect">
            <a:avLst/>
          </a:prstGeom>
          <a:solidFill>
            <a:srgbClr val="13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1645920"/>
            <a:ext cx="3108960" cy="320040"/>
          </a:xfrm>
          <a:prstGeom prst="rect">
            <a:avLst/>
          </a:prstGeom>
          <a:noFill/>
        </p:spPr>
        <p:txBody>
          <a:bodyPr wrap="square" lIns="0" rIns="0" tIns="0" bIns="0" anchor="t">
            <a:spAutoFit/>
          </a:bodyPr>
          <a:lstStyle/>
          <a:p>
            <a:pPr algn="l">
              <a:lnSpc>
                <a:spcPct val="112000"/>
              </a:lnSpc>
              <a:spcAft>
                <a:spcPts val="0"/>
              </a:spcAft>
            </a:pPr>
            <a:r>
              <a:rPr sz="1300" b="1" i="0">
                <a:solidFill>
                  <a:srgbClr val="137A43"/>
                </a:solidFill>
                <a:latin typeface="Helvetica Neue"/>
              </a:rPr>
              <a:t>What accuracy looked like</a:t>
            </a:r>
          </a:p>
        </p:txBody>
      </p:sp>
      <p:sp>
        <p:nvSpPr>
          <p:cNvPr id="27" name="TextBox 26"/>
          <p:cNvSpPr txBox="1"/>
          <p:nvPr/>
        </p:nvSpPr>
        <p:spPr>
          <a:xfrm>
            <a:off x="8275319" y="2103120"/>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20 / 20</a:t>
            </a:r>
          </a:p>
        </p:txBody>
      </p:sp>
      <p:sp>
        <p:nvSpPr>
          <p:cNvPr id="28" name="TextBox 27"/>
          <p:cNvSpPr txBox="1"/>
          <p:nvPr/>
        </p:nvSpPr>
        <p:spPr>
          <a:xfrm>
            <a:off x="8275319" y="2377439"/>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on the answer key with the model on — 16 of 20 sentences model-written, every one passed the validator.</a:t>
            </a:r>
          </a:p>
        </p:txBody>
      </p:sp>
      <p:sp>
        <p:nvSpPr>
          <p:cNvPr id="29" name="TextBox 28"/>
          <p:cNvSpPr txBox="1"/>
          <p:nvPr/>
        </p:nvSpPr>
        <p:spPr>
          <a:xfrm>
            <a:off x="8275319" y="3273552"/>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20 / 20</a:t>
            </a:r>
          </a:p>
        </p:txBody>
      </p:sp>
      <p:sp>
        <p:nvSpPr>
          <p:cNvPr id="30" name="TextBox 29"/>
          <p:cNvSpPr txBox="1"/>
          <p:nvPr/>
        </p:nvSpPr>
        <p:spPr>
          <a:xfrm>
            <a:off x="8275319" y="3547872"/>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with the model off. Identical numbers; a deterministic template writes the sentence.</a:t>
            </a:r>
          </a:p>
        </p:txBody>
      </p:sp>
      <p:sp>
        <p:nvSpPr>
          <p:cNvPr id="31" name="TextBox 30"/>
          <p:cNvSpPr txBox="1"/>
          <p:nvPr/>
        </p:nvSpPr>
        <p:spPr>
          <a:xfrm>
            <a:off x="8275319" y="4443984"/>
            <a:ext cx="3108960" cy="274320"/>
          </a:xfrm>
          <a:prstGeom prst="rect">
            <a:avLst/>
          </a:prstGeom>
          <a:noFill/>
        </p:spPr>
        <p:txBody>
          <a:bodyPr wrap="square" lIns="0" rIns="0" tIns="0" bIns="0" anchor="t">
            <a:spAutoFit/>
          </a:bodyPr>
          <a:lstStyle/>
          <a:p>
            <a:pPr algn="l">
              <a:lnSpc>
                <a:spcPct val="112000"/>
              </a:lnSpc>
              <a:spcAft>
                <a:spcPts val="0"/>
              </a:spcAft>
            </a:pPr>
            <a:r>
              <a:rPr sz="1050" b="1" i="0">
                <a:solidFill>
                  <a:srgbClr val="14212B"/>
                </a:solidFill>
                <a:latin typeface="Helvetica Neue"/>
              </a:rPr>
              <a:t>18 / 20</a:t>
            </a:r>
          </a:p>
        </p:txBody>
      </p:sp>
      <p:sp>
        <p:nvSpPr>
          <p:cNvPr id="32" name="TextBox 31"/>
          <p:cNvSpPr txBox="1"/>
          <p:nvPr/>
        </p:nvSpPr>
        <p:spPr>
          <a:xfrm>
            <a:off x="8275319" y="4718304"/>
            <a:ext cx="3108960" cy="868680"/>
          </a:xfrm>
          <a:prstGeom prst="rect">
            <a:avLst/>
          </a:prstGeom>
          <a:noFill/>
        </p:spPr>
        <p:txBody>
          <a:bodyPr wrap="square" lIns="0" rIns="0" tIns="0" bIns="0" anchor="t">
            <a:spAutoFit/>
          </a:bodyPr>
          <a:lstStyle/>
          <a:p>
            <a:pPr algn="l">
              <a:lnSpc>
                <a:spcPct val="120000"/>
              </a:lnSpc>
              <a:spcAft>
                <a:spcPts val="0"/>
              </a:spcAft>
            </a:pPr>
            <a:r>
              <a:rPr sz="1000" b="0" i="0">
                <a:solidFill>
                  <a:srgbClr val="14212B"/>
                </a:solidFill>
                <a:latin typeface="Helvetica Neue"/>
              </a:rPr>
              <a:t>when we tried the model as the primary planner. Two prompt-level misses — so rules stay primary today, behind a flag.</a:t>
            </a:r>
          </a:p>
        </p:txBody>
      </p:sp>
      <p:sp>
        <p:nvSpPr>
          <p:cNvPr id="33" name="Rounded Rectangle 32"/>
          <p:cNvSpPr/>
          <p:nvPr/>
        </p:nvSpPr>
        <p:spPr>
          <a:xfrm>
            <a:off x="548640" y="5760720"/>
            <a:ext cx="11064240" cy="566928"/>
          </a:xfrm>
          <a:prstGeom prst="roundRect">
            <a:avLst>
              <a:gd name="adj" fmla="val 10000"/>
            </a:avLst>
          </a:prstGeom>
          <a:solidFill>
            <a:srgbClr val="EDF7F6"/>
          </a:solidFill>
          <a:ln w="12700">
            <a:solidFill>
              <a:srgbClr val="0A6E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24728"/>
            <a:ext cx="10607040" cy="457200"/>
          </a:xfrm>
          <a:prstGeom prst="rect">
            <a:avLst/>
          </a:prstGeom>
          <a:noFill/>
        </p:spPr>
        <p:txBody>
          <a:bodyPr wrap="square" lIns="0" rIns="0" tIns="0" bIns="0" anchor="ctr">
            <a:spAutoFit/>
          </a:bodyPr>
          <a:lstStyle/>
          <a:p>
            <a:pPr algn="l">
              <a:lnSpc>
                <a:spcPct val="112000"/>
              </a:lnSpc>
              <a:spcAft>
                <a:spcPts val="0"/>
              </a:spcAft>
            </a:pPr>
            <a:r>
              <a:rPr sz="1100" b="1" i="0">
                <a:solidFill>
                  <a:srgbClr val="0A6E78"/>
                </a:solidFill>
                <a:latin typeface="Helvetica Neue"/>
              </a:rPr>
              <a:t>Capped API credits are not a risk: </a:t>
            </a:r>
            <a:r>
              <a:rPr sz="1100" b="0" i="0">
                <a:solidFill>
                  <a:srgbClr val="14212B"/>
                </a:solidFill>
                <a:latin typeface="Helvetica Neue"/>
              </a:rPr>
              <a:t>the numbers never depend on the model. Worst case two calls per question, ~500 tokens, both after compute. Switch the key off and every number is identical.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73952"/>
            <a:ext cx="5486400" cy="228600"/>
          </a:xfrm>
          <a:prstGeom prst="rect">
            <a:avLst/>
          </a:prstGeom>
          <a:noFill/>
        </p:spPr>
        <p:txBody>
          <a:bodyPr wrap="square" lIns="0" rIns="0" tIns="0" bIns="0" anchor="t">
            <a:spAutoFit/>
          </a:bodyPr>
          <a:lstStyle/>
          <a:p>
            <a:pPr algn="l">
              <a:lnSpc>
                <a:spcPct val="112000"/>
              </a:lnSpc>
              <a:spcAft>
                <a:spcPts val="0"/>
              </a:spcAft>
            </a:pPr>
            <a:r>
              <a:rPr sz="800" b="0" i="0">
                <a:solidFill>
                  <a:srgbClr val="5B6875"/>
                </a:solidFill>
                <a:latin typeface="Helvetica Neue"/>
              </a:rPr>
              <a:t>finassist  ·  TBX  ·  BVP Tech Catalyst 2026</a:t>
            </a:r>
          </a:p>
        </p:txBody>
      </p:sp>
      <p:sp>
        <p:nvSpPr>
          <p:cNvPr id="3" name="TextBox 2"/>
          <p:cNvSpPr txBox="1"/>
          <p:nvPr/>
        </p:nvSpPr>
        <p:spPr>
          <a:xfrm>
            <a:off x="10698480" y="6473952"/>
            <a:ext cx="914400" cy="228600"/>
          </a:xfrm>
          <a:prstGeom prst="rect">
            <a:avLst/>
          </a:prstGeom>
          <a:noFill/>
        </p:spPr>
        <p:txBody>
          <a:bodyPr wrap="square" lIns="0" rIns="0" tIns="0" bIns="0" anchor="t">
            <a:spAutoFit/>
          </a:bodyPr>
          <a:lstStyle/>
          <a:p>
            <a:pPr algn="r">
              <a:lnSpc>
                <a:spcPct val="112000"/>
              </a:lnSpc>
              <a:spcAft>
                <a:spcPts val="0"/>
              </a:spcAft>
            </a:pPr>
            <a:r>
              <a:rPr sz="800" b="0" i="0">
                <a:solidFill>
                  <a:srgbClr val="5B6875"/>
                </a:solidFill>
                <a:latin typeface="Helvetica Neue"/>
              </a:rPr>
              <a:t>11 / 12</a:t>
            </a:r>
          </a:p>
        </p:txBody>
      </p:sp>
      <p:sp>
        <p:nvSpPr>
          <p:cNvPr id="4" name="TextBox 3"/>
          <p:cNvSpPr txBox="1"/>
          <p:nvPr/>
        </p:nvSpPr>
        <p:spPr>
          <a:xfrm>
            <a:off x="548640" y="384048"/>
            <a:ext cx="8229600" cy="228600"/>
          </a:xfrm>
          <a:prstGeom prst="rect">
            <a:avLst/>
          </a:prstGeom>
          <a:noFill/>
        </p:spPr>
        <p:txBody>
          <a:bodyPr wrap="square" lIns="0" rIns="0" tIns="0" bIns="0" anchor="t">
            <a:spAutoFit/>
          </a:bodyPr>
          <a:lstStyle/>
          <a:p>
            <a:pPr algn="l">
              <a:lnSpc>
                <a:spcPct val="112000"/>
              </a:lnSpc>
              <a:spcAft>
                <a:spcPts val="0"/>
              </a:spcAft>
            </a:pPr>
            <a:r>
              <a:rPr sz="900" b="1" i="0">
                <a:solidFill>
                  <a:srgbClr val="0A6E78"/>
                </a:solidFill>
                <a:latin typeface="Helvetica Neue"/>
              </a:rPr>
              <a:t>D  E  M  O     ·     F  I  V  E     M  I  N  U  T  E  S</a:t>
            </a:r>
          </a:p>
        </p:txBody>
      </p:sp>
      <p:sp>
        <p:nvSpPr>
          <p:cNvPr id="5" name="TextBox 4"/>
          <p:cNvSpPr txBox="1"/>
          <p:nvPr/>
        </p:nvSpPr>
        <p:spPr>
          <a:xfrm>
            <a:off x="548640" y="621792"/>
            <a:ext cx="11064240" cy="548640"/>
          </a:xfrm>
          <a:prstGeom prst="rect">
            <a:avLst/>
          </a:prstGeom>
          <a:noFill/>
        </p:spPr>
        <p:txBody>
          <a:bodyPr wrap="square" lIns="0" rIns="0" tIns="0" bIns="0" anchor="t">
            <a:spAutoFit/>
          </a:bodyPr>
          <a:lstStyle/>
          <a:p>
            <a:pPr algn="l">
              <a:lnSpc>
                <a:spcPct val="105000"/>
              </a:lnSpc>
              <a:spcAft>
                <a:spcPts val="0"/>
              </a:spcAft>
            </a:pPr>
            <a:r>
              <a:rPr sz="2600" b="1" i="0">
                <a:solidFill>
                  <a:srgbClr val="14212B"/>
                </a:solidFill>
                <a:latin typeface="Helvetica Neue"/>
              </a:rPr>
              <a:t>Lead with the guardrail.</a:t>
            </a:r>
          </a:p>
        </p:txBody>
      </p:sp>
      <p:sp>
        <p:nvSpPr>
          <p:cNvPr id="6" name="Rectangle 5"/>
          <p:cNvSpPr/>
          <p:nvPr/>
        </p:nvSpPr>
        <p:spPr>
          <a:xfrm>
            <a:off x="548640" y="2788920"/>
            <a:ext cx="11064240" cy="36576"/>
          </a:xfrm>
          <a:prstGeom prst="rect">
            <a:avLst/>
          </a:prstGeom>
          <a:solidFill>
            <a:srgbClr val="D9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81328" y="2633472"/>
            <a:ext cx="347472" cy="347472"/>
          </a:xfrm>
          <a:prstGeom prst="roundRect">
            <a:avLst>
              <a:gd name="adj" fmla="val 50000"/>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17320"/>
            <a:ext cx="2103120" cy="365760"/>
          </a:xfrm>
          <a:prstGeom prst="rect">
            <a:avLst/>
          </a:prstGeom>
          <a:noFill/>
        </p:spPr>
        <p:txBody>
          <a:bodyPr wrap="square" lIns="0" rIns="0" tIns="0" bIns="0" anchor="t">
            <a:spAutoFit/>
          </a:bodyPr>
          <a:lstStyle/>
          <a:p>
            <a:pPr algn="ctr">
              <a:lnSpc>
                <a:spcPct val="112000"/>
              </a:lnSpc>
              <a:spcAft>
                <a:spcPts val="0"/>
              </a:spcAft>
            </a:pPr>
            <a:r>
              <a:rPr sz="2200" b="1" i="0">
                <a:solidFill>
                  <a:srgbClr val="0A6E78"/>
                </a:solidFill>
                <a:latin typeface="Helvetica Neue"/>
              </a:rPr>
              <a:t>0:00</a:t>
            </a:r>
          </a:p>
        </p:txBody>
      </p:sp>
      <p:sp>
        <p:nvSpPr>
          <p:cNvPr id="9" name="TextBox 8"/>
          <p:cNvSpPr txBox="1"/>
          <p:nvPr/>
        </p:nvSpPr>
        <p:spPr>
          <a:xfrm>
            <a:off x="548640" y="3200400"/>
            <a:ext cx="2103120" cy="822960"/>
          </a:xfrm>
          <a:prstGeom prst="rect">
            <a:avLst/>
          </a:prstGeom>
          <a:noFill/>
        </p:spPr>
        <p:txBody>
          <a:bodyPr wrap="square" lIns="0" rIns="0" tIns="0" bIns="0" anchor="t">
            <a:spAutoFit/>
          </a:bodyPr>
          <a:lstStyle/>
          <a:p>
            <a:pPr algn="ctr">
              <a:lnSpc>
                <a:spcPct val="115000"/>
              </a:lnSpc>
              <a:spcAft>
                <a:spcPts val="0"/>
              </a:spcAft>
            </a:pPr>
            <a:r>
              <a:rPr sz="1200" b="1" i="0">
                <a:solidFill>
                  <a:srgbClr val="14212B"/>
                </a:solidFill>
                <a:latin typeface="Helvetica Neue"/>
              </a:rPr>
              <a:t>Last month's vendor payouts</a:t>
            </a:r>
          </a:p>
        </p:txBody>
      </p:sp>
      <p:sp>
        <p:nvSpPr>
          <p:cNvPr id="10" name="TextBox 9"/>
          <p:cNvSpPr txBox="1"/>
          <p:nvPr/>
        </p:nvSpPr>
        <p:spPr>
          <a:xfrm>
            <a:off x="548640" y="4069080"/>
            <a:ext cx="2103120" cy="1005840"/>
          </a:xfrm>
          <a:prstGeom prst="rect">
            <a:avLst/>
          </a:prstGeom>
          <a:noFill/>
        </p:spPr>
        <p:txBody>
          <a:bodyPr wrap="square" lIns="0" rIns="0" tIns="0" bIns="0" anchor="t">
            <a:spAutoFit/>
          </a:bodyPr>
          <a:lstStyle/>
          <a:p>
            <a:pPr algn="ctr">
              <a:lnSpc>
                <a:spcPct val="120000"/>
              </a:lnSpc>
              <a:spcAft>
                <a:spcPts val="0"/>
              </a:spcAft>
            </a:pPr>
            <a:r>
              <a:rPr sz="1000" b="0" i="0">
                <a:solidFill>
                  <a:srgbClr val="5B6875"/>
                </a:solidFill>
                <a:latin typeface="Helvetica Neue"/>
              </a:rPr>
              <a:t>Rs 69.5 crore, August 2026 · evidence ledger · SQL · CSV</a:t>
            </a:r>
          </a:p>
        </p:txBody>
      </p:sp>
      <p:sp>
        <p:nvSpPr>
          <p:cNvPr id="11" name="Rounded Rectangle 10"/>
          <p:cNvSpPr/>
          <p:nvPr/>
        </p:nvSpPr>
        <p:spPr>
          <a:xfrm>
            <a:off x="3712464" y="2633472"/>
            <a:ext cx="347472" cy="347472"/>
          </a:xfrm>
          <a:prstGeom prst="roundRect">
            <a:avLst>
              <a:gd name="adj" fmla="val 50000"/>
            </a:avLst>
          </a:prstGeom>
          <a:solidFill>
            <a:srgbClr val="0A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9776" y="1417320"/>
            <a:ext cx="2103120" cy="365760"/>
          </a:xfrm>
          <a:prstGeom prst="rect">
            <a:avLst/>
          </a:prstGeom>
          <a:noFill/>
        </p:spPr>
        <p:txBody>
          <a:bodyPr wrap="square" lIns="0" rIns="0" tIns="0" bIns="0" anchor="t">
            <a:spAutoFit/>
          </a:bodyPr>
          <a:lstStyle/>
          <a:p>
            <a:pPr algn="ctr">
              <a:lnSpc>
                <a:spcPct val="112000"/>
              </a:lnSpc>
              <a:spcAft>
                <a:spcPts val="0"/>
              </a:spcAft>
            </a:pPr>
            <a:r>
              <a:rPr sz="2200" b="1" i="0">
                <a:solidFill>
                  <a:srgbClr val="0A6E78"/>
                </a:solidFill>
                <a:latin typeface="Helvetica Neue"/>
              </a:rPr>
              <a:t>1:30</a:t>
            </a:r>
          </a:p>
        </p:txBody>
      </p:sp>
      <p:sp>
        <p:nvSpPr>
          <p:cNvPr id="13" name="TextBox 12"/>
          <p:cNvSpPr txBox="1"/>
          <p:nvPr/>
        </p:nvSpPr>
        <p:spPr>
          <a:xfrm>
            <a:off x="2779776" y="3200400"/>
            <a:ext cx="2103120" cy="822960"/>
          </a:xfrm>
          <a:prstGeom prst="rect">
            <a:avLst/>
          </a:prstGeom>
          <a:noFill/>
        </p:spPr>
        <p:txBody>
          <a:bodyPr wrap="square" lIns="0" rIns="0" tIns="0" bIns="0" anchor="t">
            <a:spAutoFit/>
          </a:bodyPr>
          <a:lstStyle/>
          <a:p>
            <a:pPr algn="ctr">
              <a:lnSpc>
                <a:spcPct val="115000"/>
              </a:lnSpc>
              <a:spcAft>
                <a:spcPts val="0"/>
              </a:spcAft>
            </a:pPr>
            <a:r>
              <a:rPr sz="1200" b="1" i="0">
                <a:solidFill>
                  <a:srgbClr val="14212B"/>
                </a:solidFill>
                <a:latin typeface="Helvetica Neue"/>
              </a:rPr>
              <a:t>“How does that compare to the month before?”</a:t>
            </a:r>
          </a:p>
        </p:txBody>
      </p:sp>
      <p:sp>
        <p:nvSpPr>
          <p:cNvPr id="14" name="TextBox 13"/>
          <p:cNvSpPr txBox="1"/>
          <p:nvPr/>
        </p:nvSpPr>
        <p:spPr>
          <a:xfrm>
            <a:off x="2779776" y="4069080"/>
            <a:ext cx="2103120" cy="1005840"/>
          </a:xfrm>
          <a:prstGeom prst="rect">
            <a:avLst/>
          </a:prstGeom>
          <a:noFill/>
        </p:spPr>
        <p:txBody>
          <a:bodyPr wrap="square" lIns="0" rIns="0" tIns="0" bIns="0" anchor="t">
            <a:spAutoFit/>
          </a:bodyPr>
          <a:lstStyle/>
          <a:p>
            <a:pPr algn="ctr">
              <a:lnSpc>
                <a:spcPct val="120000"/>
              </a:lnSpc>
              <a:spcAft>
                <a:spcPts val="0"/>
              </a:spcAft>
            </a:pPr>
            <a:r>
              <a:rPr sz="1000" b="0" i="0">
                <a:solidFill>
                  <a:srgbClr val="5B6875"/>
                </a:solidFill>
                <a:latin typeface="Helvetica Neue"/>
              </a:rPr>
              <a:t>stays on the vendor you just asked about · +76.6%</a:t>
            </a:r>
          </a:p>
        </p:txBody>
      </p:sp>
      <p:sp>
        <p:nvSpPr>
          <p:cNvPr id="15" name="Rounded Rectangle 14"/>
          <p:cNvSpPr/>
          <p:nvPr/>
        </p:nvSpPr>
        <p:spPr>
          <a:xfrm>
            <a:off x="5943600" y="2633472"/>
            <a:ext cx="347472" cy="347472"/>
          </a:xfrm>
          <a:prstGeom prst="roundRect">
            <a:avLst>
              <a:gd name="adj" fmla="val 50000"/>
            </a:avLst>
          </a:prstGeom>
          <a:solidFill>
            <a:srgbClr val="A8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10912" y="1417320"/>
            <a:ext cx="2103120" cy="365760"/>
          </a:xfrm>
          <a:prstGeom prst="rect">
            <a:avLst/>
          </a:prstGeom>
          <a:noFill/>
        </p:spPr>
        <p:txBody>
          <a:bodyPr wrap="square" lIns="0" rIns="0" tIns="0" bIns="0" anchor="t">
            <a:spAutoFit/>
          </a:bodyPr>
          <a:lstStyle/>
          <a:p>
            <a:pPr algn="ctr">
              <a:lnSpc>
                <a:spcPct val="112000"/>
              </a:lnSpc>
              <a:spcAft>
                <a:spcPts val="0"/>
              </a:spcAft>
            </a:pPr>
            <a:r>
              <a:rPr sz="2200" b="1" i="0">
                <a:solidFill>
                  <a:srgbClr val="A8690A"/>
                </a:solidFill>
                <a:latin typeface="Helvetica Neue"/>
              </a:rPr>
              <a:t>2:30</a:t>
            </a:r>
          </a:p>
        </p:txBody>
      </p:sp>
      <p:sp>
        <p:nvSpPr>
          <p:cNvPr id="17" name="TextBox 16"/>
          <p:cNvSpPr txBox="1"/>
          <p:nvPr/>
        </p:nvSpPr>
        <p:spPr>
          <a:xfrm>
            <a:off x="5010912" y="3200400"/>
            <a:ext cx="2103120" cy="822960"/>
          </a:xfrm>
          <a:prstGeom prst="rect">
            <a:avLst/>
          </a:prstGeom>
          <a:noFill/>
        </p:spPr>
        <p:txBody>
          <a:bodyPr wrap="square" lIns="0" rIns="0" tIns="0" bIns="0" anchor="t">
            <a:spAutoFit/>
          </a:bodyPr>
          <a:lstStyle/>
          <a:p>
            <a:pPr algn="ctr">
              <a:lnSpc>
                <a:spcPct val="115000"/>
              </a:lnSpc>
              <a:spcAft>
                <a:spcPts val="0"/>
              </a:spcAft>
            </a:pPr>
            <a:r>
              <a:rPr sz="1200" b="1" i="0">
                <a:solidFill>
                  <a:srgbClr val="14212B"/>
                </a:solidFill>
                <a:latin typeface="Helvetica Neue"/>
              </a:rPr>
              <a:t>“How much did we spend on Selection?”</a:t>
            </a:r>
          </a:p>
        </p:txBody>
      </p:sp>
      <p:sp>
        <p:nvSpPr>
          <p:cNvPr id="18" name="TextBox 17"/>
          <p:cNvSpPr txBox="1"/>
          <p:nvPr/>
        </p:nvSpPr>
        <p:spPr>
          <a:xfrm>
            <a:off x="5010912" y="4069080"/>
            <a:ext cx="2103120" cy="1005840"/>
          </a:xfrm>
          <a:prstGeom prst="rect">
            <a:avLst/>
          </a:prstGeom>
          <a:noFill/>
        </p:spPr>
        <p:txBody>
          <a:bodyPr wrap="square" lIns="0" rIns="0" tIns="0" bIns="0" anchor="t">
            <a:spAutoFit/>
          </a:bodyPr>
          <a:lstStyle/>
          <a:p>
            <a:pPr algn="ctr">
              <a:lnSpc>
                <a:spcPct val="120000"/>
              </a:lnSpc>
              <a:spcAft>
                <a:spcPts val="0"/>
              </a:spcAft>
            </a:pPr>
            <a:r>
              <a:rPr sz="1000" b="0" i="0">
                <a:solidFill>
                  <a:srgbClr val="5B6875"/>
                </a:solidFill>
                <a:latin typeface="Helvetica Neue"/>
              </a:rPr>
              <a:t>five matches — it asks, it does not guess</a:t>
            </a:r>
          </a:p>
        </p:txBody>
      </p:sp>
      <p:sp>
        <p:nvSpPr>
          <p:cNvPr id="19" name="Rounded Rectangle 18"/>
          <p:cNvSpPr/>
          <p:nvPr/>
        </p:nvSpPr>
        <p:spPr>
          <a:xfrm>
            <a:off x="8174736" y="2633472"/>
            <a:ext cx="347472" cy="347472"/>
          </a:xfrm>
          <a:prstGeom prst="roundRect">
            <a:avLst>
              <a:gd name="adj" fmla="val 50000"/>
            </a:avLst>
          </a:prstGeom>
          <a:solidFill>
            <a:srgbClr val="B3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42048" y="1417320"/>
            <a:ext cx="2103120" cy="365760"/>
          </a:xfrm>
          <a:prstGeom prst="rect">
            <a:avLst/>
          </a:prstGeom>
          <a:noFill/>
        </p:spPr>
        <p:txBody>
          <a:bodyPr wrap="square" lIns="0" rIns="0" tIns="0" bIns="0" anchor="t">
            <a:spAutoFit/>
          </a:bodyPr>
          <a:lstStyle/>
          <a:p>
            <a:pPr algn="ctr">
              <a:lnSpc>
                <a:spcPct val="112000"/>
              </a:lnSpc>
              <a:spcAft>
                <a:spcPts val="0"/>
              </a:spcAft>
            </a:pPr>
            <a:r>
              <a:rPr sz="2200" b="1" i="0">
                <a:solidFill>
                  <a:srgbClr val="B3283C"/>
                </a:solidFill>
                <a:latin typeface="Helvetica Neue"/>
              </a:rPr>
              <a:t>3:15</a:t>
            </a:r>
          </a:p>
        </p:txBody>
      </p:sp>
      <p:sp>
        <p:nvSpPr>
          <p:cNvPr id="21" name="TextBox 20"/>
          <p:cNvSpPr txBox="1"/>
          <p:nvPr/>
        </p:nvSpPr>
        <p:spPr>
          <a:xfrm>
            <a:off x="7242048" y="3200400"/>
            <a:ext cx="2103120" cy="822960"/>
          </a:xfrm>
          <a:prstGeom prst="rect">
            <a:avLst/>
          </a:prstGeom>
          <a:noFill/>
        </p:spPr>
        <p:txBody>
          <a:bodyPr wrap="square" lIns="0" rIns="0" tIns="0" bIns="0" anchor="t">
            <a:spAutoFit/>
          </a:bodyPr>
          <a:lstStyle/>
          <a:p>
            <a:pPr algn="ctr">
              <a:lnSpc>
                <a:spcPct val="115000"/>
              </a:lnSpc>
              <a:spcAft>
                <a:spcPts val="0"/>
              </a:spcAft>
            </a:pPr>
            <a:r>
              <a:rPr sz="1200" b="1" i="0">
                <a:solidFill>
                  <a:srgbClr val="14212B"/>
                </a:solidFill>
                <a:latin typeface="Helvetica Neue"/>
              </a:rPr>
              <a:t>The red button</a:t>
            </a:r>
          </a:p>
        </p:txBody>
      </p:sp>
      <p:sp>
        <p:nvSpPr>
          <p:cNvPr id="22" name="TextBox 21"/>
          <p:cNvSpPr txBox="1"/>
          <p:nvPr/>
        </p:nvSpPr>
        <p:spPr>
          <a:xfrm>
            <a:off x="7242048" y="4069080"/>
            <a:ext cx="2103120" cy="1005840"/>
          </a:xfrm>
          <a:prstGeom prst="rect">
            <a:avLst/>
          </a:prstGeom>
          <a:noFill/>
        </p:spPr>
        <p:txBody>
          <a:bodyPr wrap="square" lIns="0" rIns="0" tIns="0" bIns="0" anchor="t">
            <a:spAutoFit/>
          </a:bodyPr>
          <a:lstStyle/>
          <a:p>
            <a:pPr algn="ctr">
              <a:lnSpc>
                <a:spcPct val="120000"/>
              </a:lnSpc>
              <a:spcAft>
                <a:spcPts val="0"/>
              </a:spcAft>
            </a:pPr>
            <a:r>
              <a:rPr sz="1000" b="0" i="0">
                <a:solidFill>
                  <a:srgbClr val="5B6875"/>
                </a:solidFill>
                <a:latin typeface="Helvetica Neue"/>
              </a:rPr>
              <a:t>watch a fabricated number get rejected, offline</a:t>
            </a:r>
          </a:p>
        </p:txBody>
      </p:sp>
      <p:sp>
        <p:nvSpPr>
          <p:cNvPr id="23" name="Rounded Rectangle 22"/>
          <p:cNvSpPr/>
          <p:nvPr/>
        </p:nvSpPr>
        <p:spPr>
          <a:xfrm>
            <a:off x="10405872" y="2633472"/>
            <a:ext cx="347472" cy="347472"/>
          </a:xfrm>
          <a:prstGeom prst="roundRect">
            <a:avLst>
              <a:gd name="adj" fmla="val 50000"/>
            </a:avLst>
          </a:prstGeom>
          <a:solidFill>
            <a:srgbClr val="13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73184" y="1417320"/>
            <a:ext cx="2103120" cy="365760"/>
          </a:xfrm>
          <a:prstGeom prst="rect">
            <a:avLst/>
          </a:prstGeom>
          <a:noFill/>
        </p:spPr>
        <p:txBody>
          <a:bodyPr wrap="square" lIns="0" rIns="0" tIns="0" bIns="0" anchor="t">
            <a:spAutoFit/>
          </a:bodyPr>
          <a:lstStyle/>
          <a:p>
            <a:pPr algn="ctr">
              <a:lnSpc>
                <a:spcPct val="112000"/>
              </a:lnSpc>
              <a:spcAft>
                <a:spcPts val="0"/>
              </a:spcAft>
            </a:pPr>
            <a:r>
              <a:rPr sz="2200" b="1" i="0">
                <a:solidFill>
                  <a:srgbClr val="137A43"/>
                </a:solidFill>
                <a:latin typeface="Helvetica Neue"/>
              </a:rPr>
              <a:t>4:15</a:t>
            </a:r>
          </a:p>
        </p:txBody>
      </p:sp>
      <p:sp>
        <p:nvSpPr>
          <p:cNvPr id="25" name="TextBox 24"/>
          <p:cNvSpPr txBox="1"/>
          <p:nvPr/>
        </p:nvSpPr>
        <p:spPr>
          <a:xfrm>
            <a:off x="9473184" y="3200400"/>
            <a:ext cx="2103120" cy="822960"/>
          </a:xfrm>
          <a:prstGeom prst="rect">
            <a:avLst/>
          </a:prstGeom>
          <a:noFill/>
        </p:spPr>
        <p:txBody>
          <a:bodyPr wrap="square" lIns="0" rIns="0" tIns="0" bIns="0" anchor="t">
            <a:spAutoFit/>
          </a:bodyPr>
          <a:lstStyle/>
          <a:p>
            <a:pPr algn="ctr">
              <a:lnSpc>
                <a:spcPct val="115000"/>
              </a:lnSpc>
              <a:spcAft>
                <a:spcPts val="0"/>
              </a:spcAft>
            </a:pPr>
            <a:r>
              <a:rPr sz="1200" b="1" i="0">
                <a:solidFill>
                  <a:srgbClr val="14212B"/>
                </a:solidFill>
                <a:latin typeface="Helvetica Neue"/>
              </a:rPr>
              <a:t>Graders in the terminal</a:t>
            </a:r>
          </a:p>
        </p:txBody>
      </p:sp>
      <p:sp>
        <p:nvSpPr>
          <p:cNvPr id="26" name="TextBox 25"/>
          <p:cNvSpPr txBox="1"/>
          <p:nvPr/>
        </p:nvSpPr>
        <p:spPr>
          <a:xfrm>
            <a:off x="9473184" y="4069080"/>
            <a:ext cx="2103120" cy="1005840"/>
          </a:xfrm>
          <a:prstGeom prst="rect">
            <a:avLst/>
          </a:prstGeom>
          <a:noFill/>
        </p:spPr>
        <p:txBody>
          <a:bodyPr wrap="square" lIns="0" rIns="0" tIns="0" bIns="0" anchor="t">
            <a:spAutoFit/>
          </a:bodyPr>
          <a:lstStyle/>
          <a:p>
            <a:pPr algn="ctr">
              <a:lnSpc>
                <a:spcPct val="120000"/>
              </a:lnSpc>
              <a:spcAft>
                <a:spcPts val="0"/>
              </a:spcAft>
            </a:pPr>
            <a:r>
              <a:rPr sz="1000" b="0" i="0">
                <a:solidFill>
                  <a:srgbClr val="5B6875"/>
                </a:solidFill>
                <a:latin typeface="Helvetica Neue"/>
              </a:rPr>
              <a:t>20 / 20 with the model on and off · enrichment PASS</a:t>
            </a:r>
          </a:p>
        </p:txBody>
      </p:sp>
      <p:sp>
        <p:nvSpPr>
          <p:cNvPr id="27" name="Rounded Rectangle 26"/>
          <p:cNvSpPr/>
          <p:nvPr/>
        </p:nvSpPr>
        <p:spPr>
          <a:xfrm>
            <a:off x="548640" y="5349240"/>
            <a:ext cx="11064240" cy="960120"/>
          </a:xfrm>
          <a:prstGeom prst="roundRect">
            <a:avLst>
              <a:gd name="adj" fmla="val 8000"/>
            </a:avLst>
          </a:prstGeom>
          <a:solidFill>
            <a:srgbClr val="14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0680"/>
            <a:ext cx="10515600" cy="777240"/>
          </a:xfrm>
          <a:prstGeom prst="rect">
            <a:avLst/>
          </a:prstGeom>
          <a:noFill/>
        </p:spPr>
        <p:txBody>
          <a:bodyPr wrap="square" lIns="0" rIns="0" tIns="0" bIns="0" anchor="ctr">
            <a:spAutoFit/>
          </a:bodyPr>
          <a:lstStyle/>
          <a:p>
            <a:pPr algn="l">
              <a:lnSpc>
                <a:spcPct val="135000"/>
              </a:lnSpc>
              <a:spcAft>
                <a:spcPts val="0"/>
              </a:spcAft>
            </a:pPr>
            <a:r>
              <a:rPr sz="1100" b="0" i="0">
                <a:solidFill>
                  <a:srgbClr val="8FB6D9"/>
                </a:solidFill>
                <a:latin typeface="Helvetica Neue"/>
              </a:rPr>
              <a:t>Runs on this laptop:  </a:t>
            </a:r>
            <a:r>
              <a:rPr sz="1100" b="0" i="0">
                <a:solidFill>
                  <a:srgbClr val="E6EDF3"/>
                </a:solidFill>
                <a:latin typeface="Menlo"/>
              </a:rPr>
              <a:t>.venv/bin/python -m api.server  →  localhost:8720</a:t>
            </a:r>
          </a:p>
          <a:p>
            <a:pPr algn="l">
              <a:lnSpc>
                <a:spcPct val="135000"/>
              </a:lnSpc>
              <a:spcAft>
                <a:spcPts val="0"/>
              </a:spcAft>
            </a:pPr>
            <a:r>
              <a:rPr sz="1000" b="0" i="0">
                <a:solidFill>
                  <a:srgbClr val="CFD6DC"/>
                </a:solidFill>
                <a:latin typeface="Helvetica Neue"/>
              </a:rPr>
              <a:t>Header must read  1,00,000 transactions · 186 counterparties · 2025-01-01 to 2026-09-05.   Works offline too — switch the key off, every number is identical.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2440"/>
        </a:solidFill>
        <a:effectLst/>
      </p:bgPr>
    </p:bg>
    <p:spTree>
      <p:nvGrpSpPr>
        <p:cNvPr id="1" name=""/>
        <p:cNvGrpSpPr/>
        <p:nvPr/>
      </p:nvGrpSpPr>
      <p:grpSpPr/>
      <p:sp>
        <p:nvSpPr>
          <p:cNvPr id="2" name="Rectangle 1"/>
          <p:cNvSpPr/>
          <p:nvPr/>
        </p:nvSpPr>
        <p:spPr>
          <a:xfrm>
            <a:off x="731520" y="2148840"/>
            <a:ext cx="1188720" cy="54864"/>
          </a:xfrm>
          <a:prstGeom prst="rect">
            <a:avLst/>
          </a:prstGeom>
          <a:solidFill>
            <a:srgbClr val="3FC1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31720"/>
            <a:ext cx="10698480" cy="1737360"/>
          </a:xfrm>
          <a:prstGeom prst="rect">
            <a:avLst/>
          </a:prstGeom>
          <a:noFill/>
        </p:spPr>
        <p:txBody>
          <a:bodyPr wrap="square" lIns="0" rIns="0" tIns="0" bIns="0" anchor="t">
            <a:spAutoFit/>
          </a:bodyPr>
          <a:lstStyle/>
          <a:p>
            <a:pPr algn="l">
              <a:lnSpc>
                <a:spcPct val="110000"/>
              </a:lnSpc>
              <a:spcAft>
                <a:spcPts val="0"/>
              </a:spcAft>
            </a:pPr>
            <a:r>
              <a:rPr sz="4000" b="1" i="0">
                <a:solidFill>
                  <a:srgbClr val="FFFFFF"/>
                </a:solidFill>
                <a:latin typeface="Helvetica Neue"/>
              </a:rPr>
              <a:t>SQL computes.</a:t>
            </a:r>
          </a:p>
          <a:p>
            <a:pPr algn="l">
              <a:lnSpc>
                <a:spcPct val="110000"/>
              </a:lnSpc>
              <a:spcAft>
                <a:spcPts val="0"/>
              </a:spcAft>
            </a:pPr>
            <a:r>
              <a:rPr sz="4000" b="1" i="0">
                <a:solidFill>
                  <a:srgbClr val="FFFFFF"/>
                </a:solidFill>
                <a:latin typeface="Helvetica Neue"/>
              </a:rPr>
              <a:t>The model only reads the answer out loud.</a:t>
            </a:r>
          </a:p>
        </p:txBody>
      </p:sp>
      <p:sp>
        <p:nvSpPr>
          <p:cNvPr id="4" name="TextBox 3"/>
          <p:cNvSpPr txBox="1"/>
          <p:nvPr/>
        </p:nvSpPr>
        <p:spPr>
          <a:xfrm>
            <a:off x="731520" y="4251960"/>
            <a:ext cx="10515600" cy="457200"/>
          </a:xfrm>
          <a:prstGeom prst="rect">
            <a:avLst/>
          </a:prstGeom>
          <a:noFill/>
        </p:spPr>
        <p:txBody>
          <a:bodyPr wrap="square" lIns="0" rIns="0" tIns="0" bIns="0" anchor="t">
            <a:spAutoFit/>
          </a:bodyPr>
          <a:lstStyle/>
          <a:p>
            <a:pPr algn="l">
              <a:lnSpc>
                <a:spcPct val="112000"/>
              </a:lnSpc>
              <a:spcAft>
                <a:spcPts val="0"/>
              </a:spcAft>
            </a:pPr>
            <a:r>
              <a:rPr sz="1600" b="0" i="0">
                <a:solidFill>
                  <a:srgbClr val="CFD6DC"/>
                </a:solidFill>
                <a:latin typeface="Helvetica Neue"/>
              </a:rPr>
              <a:t>Every number you see resolves to a query you can rerun.</a:t>
            </a:r>
          </a:p>
        </p:txBody>
      </p:sp>
      <p:sp>
        <p:nvSpPr>
          <p:cNvPr id="5" name="TextBox 4"/>
          <p:cNvSpPr txBox="1"/>
          <p:nvPr/>
        </p:nvSpPr>
        <p:spPr>
          <a:xfrm>
            <a:off x="731520" y="5989320"/>
            <a:ext cx="7315200" cy="274320"/>
          </a:xfrm>
          <a:prstGeom prst="rect">
            <a:avLst/>
          </a:prstGeom>
          <a:noFill/>
        </p:spPr>
        <p:txBody>
          <a:bodyPr wrap="square" lIns="0" rIns="0" tIns="0" bIns="0" anchor="t">
            <a:spAutoFit/>
          </a:bodyPr>
          <a:lstStyle/>
          <a:p>
            <a:pPr algn="l">
              <a:lnSpc>
                <a:spcPct val="112000"/>
              </a:lnSpc>
              <a:spcAft>
                <a:spcPts val="0"/>
              </a:spcAft>
            </a:pPr>
            <a:r>
              <a:rPr sz="1200" b="1" i="0">
                <a:solidFill>
                  <a:srgbClr val="3FC1B0"/>
                </a:solidFill>
                <a:latin typeface="Menlo"/>
              </a:rPr>
              <a:t>github.com/mkvmridul/tbx</a:t>
            </a:r>
          </a:p>
        </p:txBody>
      </p:sp>
      <p:sp>
        <p:nvSpPr>
          <p:cNvPr id="6" name="TextBox 5"/>
          <p:cNvSpPr txBox="1"/>
          <p:nvPr/>
        </p:nvSpPr>
        <p:spPr>
          <a:xfrm>
            <a:off x="7772400" y="5989320"/>
            <a:ext cx="3657600" cy="274320"/>
          </a:xfrm>
          <a:prstGeom prst="rect">
            <a:avLst/>
          </a:prstGeom>
          <a:noFill/>
        </p:spPr>
        <p:txBody>
          <a:bodyPr wrap="square" lIns="0" rIns="0" tIns="0" bIns="0" anchor="t">
            <a:spAutoFit/>
          </a:bodyPr>
          <a:lstStyle/>
          <a:p>
            <a:pPr algn="r">
              <a:lnSpc>
                <a:spcPct val="112000"/>
              </a:lnSpc>
              <a:spcAft>
                <a:spcPts val="0"/>
              </a:spcAft>
            </a:pPr>
            <a:r>
              <a:rPr sz="1100" b="1" i="0">
                <a:solidFill>
                  <a:srgbClr val="CFD6DC"/>
                </a:solidFill>
                <a:latin typeface="Helvetica Neue"/>
              </a:rPr>
              <a:t>Mridul  ·  Ganesh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